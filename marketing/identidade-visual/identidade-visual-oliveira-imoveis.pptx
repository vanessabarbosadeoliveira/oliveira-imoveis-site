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8" roundtripDataSignature="AMtx7mhogEIPQv5EGz7TRJIPDXchtLjdv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customschemas.google.com/relationships/presentationmetadata" Target="meta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" name="Google Shape;3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4" name="Google Shape;12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0" name="Google Shape;15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9" name="Google Shape;18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7" name="Google Shape;30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0" name="Google Shape;340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1" name="Google Shape;341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3" name="Google Shape;383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4" name="Google Shape;384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6" name="Google Shape;47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1" name="Google Shape;51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2" name="Google Shape;512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1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"/>
          <p:cNvSpPr/>
          <p:nvPr/>
        </p:nvSpPr>
        <p:spPr>
          <a:xfrm>
            <a:off x="6217920" y="-1097280"/>
            <a:ext cx="5029200" cy="5029200"/>
          </a:xfrm>
          <a:prstGeom prst="ellipse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502920" y="777240"/>
            <a:ext cx="8229600" cy="1051560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16200000" dist="25400">
              <a:srgbClr val="C9A84C">
                <a:alpha val="219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600"/>
              <a:buFont typeface="Georgia"/>
              <a:buNone/>
            </a:pPr>
            <a:r>
              <a:rPr b="1" i="0" lang="en-US" sz="76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7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502920" y="2011680"/>
            <a:ext cx="109728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"/>
          <p:cNvSpPr/>
          <p:nvPr/>
        </p:nvSpPr>
        <p:spPr>
          <a:xfrm>
            <a:off x="3520440" y="2011680"/>
            <a:ext cx="5303520" cy="1828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502920" y="1783080"/>
            <a:ext cx="82296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3200"/>
              <a:buFont typeface="Georgia"/>
              <a:buNone/>
            </a:pPr>
            <a:r>
              <a:rPr b="0" i="0" lang="en-US" sz="32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502920" y="2212848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EMPREENDIMENTOS LTDA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502920" y="2724912"/>
            <a:ext cx="256032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502920" y="2880360"/>
            <a:ext cx="82296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800"/>
              <a:buFont typeface="Georgia"/>
              <a:buNone/>
            </a:pPr>
            <a:r>
              <a:rPr b="0" i="1" lang="en-US" sz="1800" u="none" cap="none" strike="noStrike">
                <a:solidFill>
                  <a:srgbClr val="A5C49A"/>
                </a:solidFill>
                <a:latin typeface="Georgia"/>
                <a:ea typeface="Georgia"/>
                <a:cs typeface="Georgia"/>
                <a:sym typeface="Georgia"/>
              </a:rPr>
              <a:t>Ecossistemas Comerciais Estratégicos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502920" y="3401568"/>
            <a:ext cx="77724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Mais do que anunciar imóveis, estruturamos ativos para gerar resultado.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1"/>
          <p:cNvSpPr/>
          <p:nvPr/>
        </p:nvSpPr>
        <p:spPr>
          <a:xfrm>
            <a:off x="4572000" y="164592"/>
            <a:ext cx="43891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IDENTIDADE VISUAL 2026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1"/>
          <p:cNvSpPr/>
          <p:nvPr/>
        </p:nvSpPr>
        <p:spPr>
          <a:xfrm>
            <a:off x="502920" y="4681728"/>
            <a:ext cx="82296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oliveiraimoveis.ia.br  ·  (31) 99955-8360  ·  @oliveiraimoveiis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0" y="0"/>
            <a:ext cx="2834640" cy="5143500"/>
          </a:xfrm>
          <a:prstGeom prst="rect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2"/>
          <p:cNvSpPr/>
          <p:nvPr/>
        </p:nvSpPr>
        <p:spPr>
          <a:xfrm>
            <a:off x="0" y="0"/>
            <a:ext cx="2834640" cy="5029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"/>
          <p:cNvSpPr/>
          <p:nvPr/>
        </p:nvSpPr>
        <p:spPr>
          <a:xfrm>
            <a:off x="256032" y="320040"/>
            <a:ext cx="237744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DNA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DA MARCA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2"/>
          <p:cNvSpPr/>
          <p:nvPr/>
        </p:nvSpPr>
        <p:spPr>
          <a:xfrm>
            <a:off x="256032" y="1463040"/>
            <a:ext cx="23774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400"/>
              <a:buFont typeface="Georgia"/>
              <a:buNone/>
            </a:pPr>
            <a:r>
              <a:rPr b="0" i="0" lang="en-US" sz="14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256032" y="2240280"/>
            <a:ext cx="173736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"/>
          <p:cNvSpPr/>
          <p:nvPr/>
        </p:nvSpPr>
        <p:spPr>
          <a:xfrm>
            <a:off x="256032" y="2377440"/>
            <a:ext cx="237744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Ecossistema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Comercial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Estratégico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256032" y="4434840"/>
            <a:ext cx="23774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(31) 99955-8360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oliveiraimoveis.ia.br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@oliveiraimoveiis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"/>
          <p:cNvSpPr/>
          <p:nvPr/>
        </p:nvSpPr>
        <p:spPr>
          <a:xfrm>
            <a:off x="3108960" y="320040"/>
            <a:ext cx="5760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MISSÃO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" name="Google Shape;45;p2"/>
          <p:cNvSpPr/>
          <p:nvPr/>
        </p:nvSpPr>
        <p:spPr>
          <a:xfrm>
            <a:off x="3108960" y="576072"/>
            <a:ext cx="576072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" name="Google Shape;46;p2"/>
          <p:cNvSpPr/>
          <p:nvPr/>
        </p:nvSpPr>
        <p:spPr>
          <a:xfrm>
            <a:off x="3108960" y="658368"/>
            <a:ext cx="5760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D2D2A"/>
                </a:solidFill>
                <a:latin typeface="Georgia"/>
                <a:ea typeface="Georgia"/>
                <a:cs typeface="Georgia"/>
                <a:sym typeface="Georgia"/>
              </a:rPr>
              <a:t>Estruturar ecossistemas comerciais estratégicos que geram fluxo real de clientes, valorizam ativos e constroem legado para proprietários e locatários.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108960" y="1463040"/>
            <a:ext cx="5760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VISÃO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2"/>
          <p:cNvSpPr/>
          <p:nvPr/>
        </p:nvSpPr>
        <p:spPr>
          <a:xfrm>
            <a:off x="3108960" y="1719072"/>
            <a:ext cx="576072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108960" y="1801368"/>
            <a:ext cx="57607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100"/>
              <a:buFont typeface="Georgia"/>
              <a:buNone/>
            </a:pPr>
            <a:r>
              <a:rPr b="0" i="1" lang="en-US" sz="1100" u="none" cap="none" strike="noStrike">
                <a:solidFill>
                  <a:srgbClr val="2D2D2A"/>
                </a:solidFill>
                <a:latin typeface="Georgia"/>
                <a:ea typeface="Georgia"/>
                <a:cs typeface="Georgia"/>
                <a:sym typeface="Georgia"/>
              </a:rPr>
              <a:t>Ser referência em inteligência imobiliária no Brasil, reconhecidos por transformar centros comerciais em destinos e entregar resultado mensurável ao cliente.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108960" y="2606040"/>
            <a:ext cx="5760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VALORES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108960" y="2862072"/>
            <a:ext cx="576072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108960" y="2971800"/>
            <a:ext cx="64008" cy="6400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246120" y="2944368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Confiança — Cumprimos o que prometemos, sem atalhos.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108960" y="3300984"/>
            <a:ext cx="64008" cy="6400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2"/>
          <p:cNvSpPr/>
          <p:nvPr/>
        </p:nvSpPr>
        <p:spPr>
          <a:xfrm>
            <a:off x="3246120" y="3273552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Resultado — Cada estratégia tem uma métrica de sucesso.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2"/>
          <p:cNvSpPr/>
          <p:nvPr/>
        </p:nvSpPr>
        <p:spPr>
          <a:xfrm>
            <a:off x="3108960" y="3630168"/>
            <a:ext cx="64008" cy="6400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2"/>
          <p:cNvSpPr/>
          <p:nvPr/>
        </p:nvSpPr>
        <p:spPr>
          <a:xfrm>
            <a:off x="3246120" y="3602736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Inovação — Dados e tecnologia guiam nossas decisões.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2"/>
          <p:cNvSpPr/>
          <p:nvPr/>
        </p:nvSpPr>
        <p:spPr>
          <a:xfrm>
            <a:off x="3108960" y="3959352"/>
            <a:ext cx="64008" cy="6400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2"/>
          <p:cNvSpPr/>
          <p:nvPr/>
        </p:nvSpPr>
        <p:spPr>
          <a:xfrm>
            <a:off x="3246120" y="3931920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Ecossistema — O vizinho de porta é aliado, não concorrente.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2"/>
          <p:cNvSpPr/>
          <p:nvPr/>
        </p:nvSpPr>
        <p:spPr>
          <a:xfrm>
            <a:off x="3108960" y="4288536"/>
            <a:ext cx="64008" cy="64008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2"/>
          <p:cNvSpPr/>
          <p:nvPr/>
        </p:nvSpPr>
        <p:spPr>
          <a:xfrm>
            <a:off x="3246120" y="4261104"/>
            <a:ext cx="55778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Excelência — Qualidade boutique com escala profissional.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0" y="0"/>
            <a:ext cx="9144000" cy="841248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0" y="841248"/>
            <a:ext cx="91440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411480" y="164592"/>
            <a:ext cx="6400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PALETA DE CORES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411480" y="594360"/>
            <a:ext cx="7315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Sistema Cromático Oliveira Imóveis 2026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411480" y="987552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FAMÍLIA VERDE OLIVEIRA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411480" y="1216152"/>
            <a:ext cx="1481328" cy="1005840"/>
          </a:xfrm>
          <a:prstGeom prst="rect">
            <a:avLst/>
          </a:prstGeom>
          <a:solidFill>
            <a:srgbClr val="3D5A30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3"/>
          <p:cNvSpPr/>
          <p:nvPr/>
        </p:nvSpPr>
        <p:spPr>
          <a:xfrm>
            <a:off x="411480" y="226771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Profundo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3"/>
          <p:cNvSpPr/>
          <p:nvPr/>
        </p:nvSpPr>
        <p:spPr>
          <a:xfrm>
            <a:off x="411480" y="246888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#3D5A30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3"/>
          <p:cNvSpPr/>
          <p:nvPr/>
        </p:nvSpPr>
        <p:spPr>
          <a:xfrm>
            <a:off x="411480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Fundo escuro · âncora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3"/>
          <p:cNvSpPr/>
          <p:nvPr/>
        </p:nvSpPr>
        <p:spPr>
          <a:xfrm>
            <a:off x="2075688" y="1216152"/>
            <a:ext cx="1481328" cy="1005840"/>
          </a:xfrm>
          <a:prstGeom prst="rect">
            <a:avLst/>
          </a:prstGeom>
          <a:solidFill>
            <a:srgbClr val="5B7A4A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3"/>
          <p:cNvSpPr/>
          <p:nvPr/>
        </p:nvSpPr>
        <p:spPr>
          <a:xfrm>
            <a:off x="2075688" y="226771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Oliveira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2075688" y="246888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#5B7A4A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2075688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Cor primária · headers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739896" y="1216152"/>
            <a:ext cx="1481328" cy="1005840"/>
          </a:xfrm>
          <a:prstGeom prst="rect">
            <a:avLst/>
          </a:prstGeom>
          <a:solidFill>
            <a:srgbClr val="7A9E65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739896" y="226771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Médio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3"/>
          <p:cNvSpPr/>
          <p:nvPr/>
        </p:nvSpPr>
        <p:spPr>
          <a:xfrm>
            <a:off x="3739896" y="246888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#7A9E65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3"/>
          <p:cNvSpPr/>
          <p:nvPr/>
        </p:nvSpPr>
        <p:spPr>
          <a:xfrm>
            <a:off x="3739896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Elementos de suporte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5404104" y="1216152"/>
            <a:ext cx="1481328" cy="1005840"/>
          </a:xfrm>
          <a:prstGeom prst="rect">
            <a:avLst/>
          </a:prstGeom>
          <a:solidFill>
            <a:srgbClr val="A5C49A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3"/>
          <p:cNvSpPr/>
          <p:nvPr/>
        </p:nvSpPr>
        <p:spPr>
          <a:xfrm>
            <a:off x="5404104" y="226771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Claro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04104" y="246888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#A5C49A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5404104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Acento suave · destaques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3"/>
          <p:cNvSpPr/>
          <p:nvPr/>
        </p:nvSpPr>
        <p:spPr>
          <a:xfrm>
            <a:off x="7068312" y="1216152"/>
            <a:ext cx="1481328" cy="1005840"/>
          </a:xfrm>
          <a:prstGeom prst="rect">
            <a:avLst/>
          </a:prstGeom>
          <a:solidFill>
            <a:srgbClr val="D4E8CE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7068312" y="2267712"/>
            <a:ext cx="15087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Suave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3"/>
          <p:cNvSpPr/>
          <p:nvPr/>
        </p:nvSpPr>
        <p:spPr>
          <a:xfrm>
            <a:off x="7068312" y="246888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#D4E8CE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068312" y="2624328"/>
            <a:ext cx="15087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Fundos e tints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11480" y="2999232"/>
            <a:ext cx="2743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C9A84C"/>
                </a:solidFill>
                <a:latin typeface="Arial"/>
                <a:ea typeface="Arial"/>
                <a:cs typeface="Arial"/>
                <a:sym typeface="Arial"/>
              </a:rPr>
              <a:t>FAMÍLIA DOURADA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11480" y="3218688"/>
            <a:ext cx="1481328" cy="621792"/>
          </a:xfrm>
          <a:prstGeom prst="rect">
            <a:avLst/>
          </a:prstGeom>
          <a:solidFill>
            <a:srgbClr val="A88830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"/>
          <p:cNvSpPr/>
          <p:nvPr/>
        </p:nvSpPr>
        <p:spPr>
          <a:xfrm>
            <a:off x="411480" y="388620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Dourado Escuro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p3"/>
          <p:cNvSpPr/>
          <p:nvPr/>
        </p:nvSpPr>
        <p:spPr>
          <a:xfrm>
            <a:off x="411480" y="406908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#A88830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3"/>
          <p:cNvSpPr/>
          <p:nvPr/>
        </p:nvSpPr>
        <p:spPr>
          <a:xfrm>
            <a:off x="411480" y="422452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Profundidade · âncora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3"/>
          <p:cNvSpPr/>
          <p:nvPr/>
        </p:nvSpPr>
        <p:spPr>
          <a:xfrm>
            <a:off x="2075688" y="3218688"/>
            <a:ext cx="1481328" cy="621792"/>
          </a:xfrm>
          <a:prstGeom prst="rect">
            <a:avLst/>
          </a:prstGeom>
          <a:solidFill>
            <a:srgbClr val="C9A84C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3"/>
          <p:cNvSpPr/>
          <p:nvPr/>
        </p:nvSpPr>
        <p:spPr>
          <a:xfrm>
            <a:off x="2075688" y="388620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Dourado Oliveira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3"/>
          <p:cNvSpPr/>
          <p:nvPr/>
        </p:nvSpPr>
        <p:spPr>
          <a:xfrm>
            <a:off x="2075688" y="406908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#C9A84C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3"/>
          <p:cNvSpPr/>
          <p:nvPr/>
        </p:nvSpPr>
        <p:spPr>
          <a:xfrm>
            <a:off x="2075688" y="422452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Logo · acento principal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/>
          <p:nvPr/>
        </p:nvSpPr>
        <p:spPr>
          <a:xfrm>
            <a:off x="3739896" y="3218688"/>
            <a:ext cx="1481328" cy="621792"/>
          </a:xfrm>
          <a:prstGeom prst="rect">
            <a:avLst/>
          </a:prstGeom>
          <a:solidFill>
            <a:srgbClr val="E2C97A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3"/>
          <p:cNvSpPr/>
          <p:nvPr/>
        </p:nvSpPr>
        <p:spPr>
          <a:xfrm>
            <a:off x="3739896" y="3886200"/>
            <a:ext cx="15087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Dourado Claro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3"/>
          <p:cNvSpPr/>
          <p:nvPr/>
        </p:nvSpPr>
        <p:spPr>
          <a:xfrm>
            <a:off x="3739896" y="4069080"/>
            <a:ext cx="1508760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#E2C97A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3"/>
          <p:cNvSpPr/>
          <p:nvPr/>
        </p:nvSpPr>
        <p:spPr>
          <a:xfrm>
            <a:off x="3739896" y="4224528"/>
            <a:ext cx="15087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Texto dourado em escuro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3"/>
          <p:cNvSpPr/>
          <p:nvPr/>
        </p:nvSpPr>
        <p:spPr>
          <a:xfrm>
            <a:off x="5486400" y="2999232"/>
            <a:ext cx="32918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NEUTROS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5486400" y="3218688"/>
            <a:ext cx="621792" cy="621792"/>
          </a:xfrm>
          <a:prstGeom prst="rect">
            <a:avLst/>
          </a:prstGeom>
          <a:solidFill>
            <a:srgbClr val="0D0D0C"/>
          </a:solidFill>
          <a:ln cap="flat" cmpd="sng" w="9525">
            <a:solidFill>
              <a:srgbClr val="BCBA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"/>
          <p:cNvSpPr/>
          <p:nvPr/>
        </p:nvSpPr>
        <p:spPr>
          <a:xfrm>
            <a:off x="5486400" y="3886200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Preto Oliveira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3"/>
          <p:cNvSpPr/>
          <p:nvPr/>
        </p:nvSpPr>
        <p:spPr>
          <a:xfrm>
            <a:off x="5486400" y="413308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#0D0D0C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0" name="Google Shape;110;p3"/>
          <p:cNvSpPr/>
          <p:nvPr/>
        </p:nvSpPr>
        <p:spPr>
          <a:xfrm>
            <a:off x="6199632" y="3218688"/>
            <a:ext cx="621792" cy="621792"/>
          </a:xfrm>
          <a:prstGeom prst="rect">
            <a:avLst/>
          </a:prstGeom>
          <a:solidFill>
            <a:srgbClr val="2D2D2A"/>
          </a:solidFill>
          <a:ln cap="flat" cmpd="sng" w="9525">
            <a:solidFill>
              <a:srgbClr val="BCBA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3"/>
          <p:cNvSpPr/>
          <p:nvPr/>
        </p:nvSpPr>
        <p:spPr>
          <a:xfrm>
            <a:off x="6199632" y="3886200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Cinza Escuro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3"/>
          <p:cNvSpPr/>
          <p:nvPr/>
        </p:nvSpPr>
        <p:spPr>
          <a:xfrm>
            <a:off x="6199632" y="413308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#2D2D2A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6912864" y="3218688"/>
            <a:ext cx="621792" cy="621792"/>
          </a:xfrm>
          <a:prstGeom prst="rect">
            <a:avLst/>
          </a:prstGeom>
          <a:solidFill>
            <a:srgbClr val="8A8278"/>
          </a:solidFill>
          <a:ln cap="flat" cmpd="sng" w="9525">
            <a:solidFill>
              <a:srgbClr val="BCBA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"/>
          <p:cNvSpPr/>
          <p:nvPr/>
        </p:nvSpPr>
        <p:spPr>
          <a:xfrm>
            <a:off x="6912864" y="3886200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Cinza Médio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3"/>
          <p:cNvSpPr/>
          <p:nvPr/>
        </p:nvSpPr>
        <p:spPr>
          <a:xfrm>
            <a:off x="6912864" y="413308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#8A8278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3"/>
          <p:cNvSpPr/>
          <p:nvPr/>
        </p:nvSpPr>
        <p:spPr>
          <a:xfrm>
            <a:off x="7626096" y="3218688"/>
            <a:ext cx="621792" cy="621792"/>
          </a:xfrm>
          <a:prstGeom prst="rect">
            <a:avLst/>
          </a:prstGeom>
          <a:solidFill>
            <a:srgbClr val="BCBAB4"/>
          </a:solidFill>
          <a:ln cap="flat" cmpd="sng" w="9525">
            <a:solidFill>
              <a:srgbClr val="BCBA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3"/>
          <p:cNvSpPr/>
          <p:nvPr/>
        </p:nvSpPr>
        <p:spPr>
          <a:xfrm>
            <a:off x="7626096" y="3886200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Cinza Claro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/>
          <p:nvPr/>
        </p:nvSpPr>
        <p:spPr>
          <a:xfrm>
            <a:off x="7626096" y="413308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#BCBAB4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3"/>
          <p:cNvSpPr/>
          <p:nvPr/>
        </p:nvSpPr>
        <p:spPr>
          <a:xfrm>
            <a:off x="8339328" y="3218688"/>
            <a:ext cx="621792" cy="621792"/>
          </a:xfrm>
          <a:prstGeom prst="rect">
            <a:avLst/>
          </a:prstGeom>
          <a:solidFill>
            <a:srgbClr val="F5F2EC"/>
          </a:solidFill>
          <a:ln cap="flat" cmpd="sng" w="9525">
            <a:solidFill>
              <a:srgbClr val="BCBAB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3"/>
          <p:cNvSpPr/>
          <p:nvPr/>
        </p:nvSpPr>
        <p:spPr>
          <a:xfrm>
            <a:off x="8339328" y="3886200"/>
            <a:ext cx="71323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Creme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3"/>
          <p:cNvSpPr/>
          <p:nvPr/>
        </p:nvSpPr>
        <p:spPr>
          <a:xfrm>
            <a:off x="8339328" y="4133088"/>
            <a:ext cx="713232" cy="1645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#F5F2EC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4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4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9089136" y="0"/>
            <a:ext cx="54864" cy="514350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"/>
          <p:cNvSpPr/>
          <p:nvPr/>
        </p:nvSpPr>
        <p:spPr>
          <a:xfrm>
            <a:off x="457200" y="256032"/>
            <a:ext cx="548640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800"/>
              <a:buFont typeface="Georgia"/>
              <a:buNone/>
            </a:pPr>
            <a:r>
              <a:rPr b="1" i="0" lang="en-US" sz="2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TIPOGRAFIA</a:t>
            </a:r>
            <a:endParaRPr b="0" i="0" sz="2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57200" y="777240"/>
            <a:ext cx="822960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57200" y="896112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DISPLAY / HEADING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57200" y="1170432"/>
            <a:ext cx="411480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5400"/>
              <a:buFont typeface="Georgia"/>
              <a:buNone/>
            </a:pPr>
            <a:r>
              <a:rPr b="1" i="0" lang="en-US" sz="54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Georgia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57200" y="1993392"/>
            <a:ext cx="41148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8A8278"/>
                </a:solidFill>
                <a:latin typeface="Georgia"/>
                <a:ea typeface="Georgia"/>
                <a:cs typeface="Georgia"/>
                <a:sym typeface="Georgia"/>
              </a:rPr>
              <a:t>ABCDEFGHIJKLMNOPQRSTUVWXYZ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8A8278"/>
                </a:solidFill>
                <a:latin typeface="Georgia"/>
                <a:ea typeface="Georgia"/>
                <a:cs typeface="Georgia"/>
                <a:sym typeface="Georgia"/>
              </a:rPr>
              <a:t>abcdefghijklmnopqrstuvwxyz  0123456789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4"/>
          <p:cNvSpPr/>
          <p:nvPr/>
        </p:nvSpPr>
        <p:spPr>
          <a:xfrm>
            <a:off x="457200" y="2578608"/>
            <a:ext cx="41148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950"/>
              <a:buFont typeface="Georgia"/>
              <a:buNone/>
            </a:pPr>
            <a:r>
              <a:rPr b="1" i="0" lang="en-US" sz="95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Uso: </a:t>
            </a:r>
            <a:r>
              <a:rPr b="0" i="0" lang="en-US" sz="950" u="none" cap="none" strike="noStrike">
                <a:solidFill>
                  <a:srgbClr val="8A8278"/>
                </a:solidFill>
                <a:latin typeface="Georgia"/>
                <a:ea typeface="Georgia"/>
                <a:cs typeface="Georgia"/>
                <a:sym typeface="Georgia"/>
              </a:rPr>
              <a:t>Logotipo · Headlines · Titulações premium · Citações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754880" y="896112"/>
            <a:ext cx="13716" cy="4023360"/>
          </a:xfrm>
          <a:prstGeom prst="rect">
            <a:avLst/>
          </a:prstGeom>
          <a:solidFill>
            <a:srgbClr val="2D2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4"/>
          <p:cNvSpPr/>
          <p:nvPr/>
        </p:nvSpPr>
        <p:spPr>
          <a:xfrm>
            <a:off x="4983480" y="896112"/>
            <a:ext cx="3931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CORPO / INTERFACE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>
            <a:off x="4983480" y="1170432"/>
            <a:ext cx="3931920" cy="7498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Arial</a:t>
            </a:r>
            <a:endParaRPr b="0" i="0" sz="5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/>
          <p:nvPr/>
        </p:nvSpPr>
        <p:spPr>
          <a:xfrm>
            <a:off x="4983480" y="1993392"/>
            <a:ext cx="39319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ABCDEFGHIJKLMNOPQRSTUVWXYZ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abcdefghijklmnopqrstuvwxyz  0123456789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4983480" y="2578608"/>
            <a:ext cx="39319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Uso: </a:t>
            </a:r>
            <a:r>
              <a:rPr b="0" i="0" lang="en-US" sz="9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Corpo de texto · UI digital · Botões · Legendas · Labels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4"/>
          <p:cNvSpPr/>
          <p:nvPr/>
        </p:nvSpPr>
        <p:spPr>
          <a:xfrm>
            <a:off x="457200" y="2944368"/>
            <a:ext cx="822960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4"/>
          <p:cNvSpPr/>
          <p:nvPr/>
        </p:nvSpPr>
        <p:spPr>
          <a:xfrm>
            <a:off x="457200" y="303580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750"/>
              <a:buFont typeface="Arial"/>
              <a:buNone/>
            </a:pPr>
            <a:r>
              <a:rPr b="1" i="0" lang="en-US" sz="75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HIERARQUIA TIPOGRÁFICA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4"/>
          <p:cNvSpPr/>
          <p:nvPr/>
        </p:nvSpPr>
        <p:spPr>
          <a:xfrm>
            <a:off x="457200" y="3273552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2000"/>
              <a:buFont typeface="Georgia"/>
              <a:buNone/>
            </a:pPr>
            <a:r>
              <a:rPr b="0" i="0" lang="en-US" sz="20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H1 — Display 48pt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4"/>
          <p:cNvSpPr/>
          <p:nvPr/>
        </p:nvSpPr>
        <p:spPr>
          <a:xfrm>
            <a:off x="457200" y="3621024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H2 — Heading 32pt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4"/>
          <p:cNvSpPr/>
          <p:nvPr/>
        </p:nvSpPr>
        <p:spPr>
          <a:xfrm>
            <a:off x="457200" y="3968496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300"/>
              <a:buFont typeface="Arial"/>
              <a:buNone/>
            </a:pPr>
            <a:r>
              <a:rPr b="0" i="0" lang="en-US" sz="13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H3 — Subheading 20pt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4"/>
          <p:cNvSpPr/>
          <p:nvPr/>
        </p:nvSpPr>
        <p:spPr>
          <a:xfrm>
            <a:off x="457200" y="4315968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100"/>
              <a:buFont typeface="Arial"/>
              <a:buNone/>
            </a:pPr>
            <a:r>
              <a:rPr b="0" i="0" lang="en-US" sz="11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Body — Corpo 12pt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4"/>
          <p:cNvSpPr/>
          <p:nvPr/>
        </p:nvSpPr>
        <p:spPr>
          <a:xfrm>
            <a:off x="457200" y="4663440"/>
            <a:ext cx="82296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Caption — Legenda 9pt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5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5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411480" y="1828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VARIAÇÕES DA LOGOMARCA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274320" y="960120"/>
            <a:ext cx="2697480" cy="2926080"/>
          </a:xfrm>
          <a:prstGeom prst="rect">
            <a:avLst/>
          </a:prstGeom>
          <a:solidFill>
            <a:srgbClr val="0D0D0C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274320" y="960120"/>
            <a:ext cx="269748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5"/>
          <p:cNvSpPr/>
          <p:nvPr/>
        </p:nvSpPr>
        <p:spPr>
          <a:xfrm>
            <a:off x="411480" y="114300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11480" y="1764792"/>
            <a:ext cx="457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p5"/>
          <p:cNvSpPr/>
          <p:nvPr/>
        </p:nvSpPr>
        <p:spPr>
          <a:xfrm>
            <a:off x="2377440" y="1764792"/>
            <a:ext cx="457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411480" y="166420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411480" y="192024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EMPREENDIMENTOS LTDA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5"/>
          <p:cNvSpPr/>
          <p:nvPr/>
        </p:nvSpPr>
        <p:spPr>
          <a:xfrm>
            <a:off x="822960" y="2194560"/>
            <a:ext cx="1600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411480" y="23317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850"/>
              <a:buFont typeface="Georgia"/>
              <a:buNone/>
            </a:pPr>
            <a:r>
              <a:rPr b="0" i="1" lang="en-US" sz="850" u="none" cap="none" strike="noStrike">
                <a:solidFill>
                  <a:srgbClr val="BCBAB4"/>
                </a:solidFill>
                <a:latin typeface="Georgia"/>
                <a:ea typeface="Georgia"/>
                <a:cs typeface="Georgia"/>
                <a:sym typeface="Georgia"/>
              </a:rPr>
              <a:t>Ecossistemas Comerciais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850"/>
              <a:buFont typeface="Georgia"/>
              <a:buNone/>
            </a:pPr>
            <a:r>
              <a:rPr b="0" i="1" lang="en-US" sz="850" u="none" cap="none" strike="noStrike">
                <a:solidFill>
                  <a:srgbClr val="BCBAB4"/>
                </a:solidFill>
                <a:latin typeface="Georgia"/>
                <a:ea typeface="Georgia"/>
                <a:cs typeface="Georgia"/>
                <a:sym typeface="Georgia"/>
              </a:rPr>
              <a:t>Estratégicos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18688" y="960120"/>
            <a:ext cx="2697480" cy="2926080"/>
          </a:xfrm>
          <a:prstGeom prst="rect">
            <a:avLst/>
          </a:prstGeom>
          <a:solidFill>
            <a:srgbClr val="3D5A30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5"/>
          <p:cNvSpPr/>
          <p:nvPr/>
        </p:nvSpPr>
        <p:spPr>
          <a:xfrm>
            <a:off x="3218688" y="960120"/>
            <a:ext cx="269748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3355848" y="114300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355848" y="1764792"/>
            <a:ext cx="457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5321808" y="1764792"/>
            <a:ext cx="457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3355848" y="166420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355848" y="192024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EMPREENDIMENTOS LTDA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767328" y="2194560"/>
            <a:ext cx="1600200" cy="1371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3355848" y="23317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50"/>
              <a:buFont typeface="Georgia"/>
              <a:buNone/>
            </a:pPr>
            <a:r>
              <a:rPr b="0" i="1" lang="en-US" sz="850" u="none" cap="none" strike="noStrike">
                <a:solidFill>
                  <a:srgbClr val="A5C49A"/>
                </a:solidFill>
                <a:latin typeface="Georgia"/>
                <a:ea typeface="Georgia"/>
                <a:cs typeface="Georgia"/>
                <a:sym typeface="Georgia"/>
              </a:rPr>
              <a:t>Ecossistemas Comerciais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50"/>
              <a:buFont typeface="Georgia"/>
              <a:buNone/>
            </a:pPr>
            <a:r>
              <a:rPr b="0" i="1" lang="en-US" sz="850" u="none" cap="none" strike="noStrike">
                <a:solidFill>
                  <a:srgbClr val="A5C49A"/>
                </a:solidFill>
                <a:latin typeface="Georgia"/>
                <a:ea typeface="Georgia"/>
                <a:cs typeface="Georgia"/>
                <a:sym typeface="Georgia"/>
              </a:rPr>
              <a:t>Estratégicos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6163056" y="960120"/>
            <a:ext cx="2697480" cy="2926080"/>
          </a:xfrm>
          <a:prstGeom prst="rect">
            <a:avLst/>
          </a:prstGeom>
          <a:solidFill>
            <a:srgbClr val="F5F2EC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5"/>
          <p:cNvSpPr/>
          <p:nvPr/>
        </p:nvSpPr>
        <p:spPr>
          <a:xfrm>
            <a:off x="6163056" y="960120"/>
            <a:ext cx="269748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5"/>
          <p:cNvSpPr/>
          <p:nvPr/>
        </p:nvSpPr>
        <p:spPr>
          <a:xfrm>
            <a:off x="6300216" y="1143000"/>
            <a:ext cx="2423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5B7A4A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5"/>
          <p:cNvSpPr/>
          <p:nvPr/>
        </p:nvSpPr>
        <p:spPr>
          <a:xfrm>
            <a:off x="6300216" y="1764792"/>
            <a:ext cx="457200" cy="13716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8266176" y="1764792"/>
            <a:ext cx="457200" cy="13716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5"/>
          <p:cNvSpPr/>
          <p:nvPr/>
        </p:nvSpPr>
        <p:spPr>
          <a:xfrm>
            <a:off x="6300216" y="1664208"/>
            <a:ext cx="2423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7A9E65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7A9E65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300216" y="1920240"/>
            <a:ext cx="2423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EMPREENDIMENTOS LTDA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5"/>
          <p:cNvSpPr/>
          <p:nvPr/>
        </p:nvSpPr>
        <p:spPr>
          <a:xfrm>
            <a:off x="6711696" y="2194560"/>
            <a:ext cx="1600200" cy="13716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5"/>
          <p:cNvSpPr/>
          <p:nvPr/>
        </p:nvSpPr>
        <p:spPr>
          <a:xfrm>
            <a:off x="6300216" y="2331720"/>
            <a:ext cx="24231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50"/>
              <a:buFont typeface="Georgia"/>
              <a:buNone/>
            </a:pPr>
            <a:r>
              <a:rPr b="0" i="1" lang="en-US" sz="850" u="none" cap="none" strike="noStrike">
                <a:solidFill>
                  <a:srgbClr val="8A8278"/>
                </a:solidFill>
                <a:latin typeface="Georgia"/>
                <a:ea typeface="Georgia"/>
                <a:cs typeface="Georgia"/>
                <a:sym typeface="Georgia"/>
              </a:rPr>
              <a:t>Ecossistemas Comerciais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50"/>
              <a:buFont typeface="Georgia"/>
              <a:buNone/>
            </a:pPr>
            <a:r>
              <a:rPr b="0" i="1" lang="en-US" sz="850" u="none" cap="none" strike="noStrike">
                <a:solidFill>
                  <a:srgbClr val="8A8278"/>
                </a:solidFill>
                <a:latin typeface="Georgia"/>
                <a:ea typeface="Georgia"/>
                <a:cs typeface="Georgia"/>
                <a:sym typeface="Georgia"/>
              </a:rPr>
              <a:t>Estratégicos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274320" y="397764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C9A84C"/>
                </a:solidFill>
                <a:latin typeface="Arial"/>
                <a:ea typeface="Arial"/>
                <a:cs typeface="Arial"/>
                <a:sym typeface="Arial"/>
              </a:rPr>
              <a:t>PRINCIPAL  ★  Preferencial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3218688" y="397764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VERSÃO VERDE OLIVEIRA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163056" y="3977640"/>
            <a:ext cx="2697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VERSÃO FUNDO CLARO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6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6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411480" y="182880"/>
            <a:ext cx="82296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REGRAS DE USO DA LOGOMARCA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11480" y="667512"/>
            <a:ext cx="832104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411480" y="77724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ÁREA DE PROTEÇÃO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11480" y="1033272"/>
            <a:ext cx="41148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Manter espaço livre equivalente à altura da letra "O" em todas as direções.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6"/>
          <p:cNvSpPr/>
          <p:nvPr/>
        </p:nvSpPr>
        <p:spPr>
          <a:xfrm>
            <a:off x="411480" y="1508760"/>
            <a:ext cx="3749040" cy="1874520"/>
          </a:xfrm>
          <a:prstGeom prst="rect">
            <a:avLst/>
          </a:prstGeom>
          <a:solidFill>
            <a:srgbClr val="2D2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685800" y="1737360"/>
            <a:ext cx="3200400" cy="1417320"/>
          </a:xfrm>
          <a:prstGeom prst="rect">
            <a:avLst/>
          </a:prstGeom>
          <a:solidFill>
            <a:srgbClr val="3D5A30"/>
          </a:solidFill>
          <a:ln cap="flat" cmpd="sng" w="12700">
            <a:solidFill>
              <a:srgbClr val="C9A84C"/>
            </a:solidFill>
            <a:prstDash val="dash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685800" y="1828800"/>
            <a:ext cx="3200400" cy="8686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411480" y="3456432"/>
            <a:ext cx="37490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750"/>
              <a:buFont typeface="Arial"/>
              <a:buNone/>
            </a:pPr>
            <a:r>
              <a:rPr b="0" i="1" lang="en-US" sz="75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← espaço "O" →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4663440" y="777240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05555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E05555"/>
                </a:solidFill>
                <a:latin typeface="Arial"/>
                <a:ea typeface="Arial"/>
                <a:cs typeface="Arial"/>
                <a:sym typeface="Arial"/>
              </a:rPr>
              <a:t>NUNCA FAÇA — USO INCORRETO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4663440" y="1051560"/>
            <a:ext cx="201168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4663440" y="1033272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4919472" y="107899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Não distorcer proporções da marca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6"/>
          <p:cNvSpPr/>
          <p:nvPr/>
        </p:nvSpPr>
        <p:spPr>
          <a:xfrm>
            <a:off x="4663440" y="1499616"/>
            <a:ext cx="201168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4663440" y="1481328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4919472" y="152704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Não usar em fundos fora da paleta oficial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4663440" y="1947672"/>
            <a:ext cx="201168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4663440" y="1929384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4919472" y="1975104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Não trocar as cores por cores externas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4663440" y="2395728"/>
            <a:ext cx="201168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6"/>
          <p:cNvSpPr/>
          <p:nvPr/>
        </p:nvSpPr>
        <p:spPr>
          <a:xfrm>
            <a:off x="4663440" y="2377440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6"/>
          <p:cNvSpPr/>
          <p:nvPr/>
        </p:nvSpPr>
        <p:spPr>
          <a:xfrm>
            <a:off x="4919472" y="2423160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Não adicionar sombras ou efeitos não aprovados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4663440" y="2843784"/>
            <a:ext cx="201168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6"/>
          <p:cNvSpPr/>
          <p:nvPr/>
        </p:nvSpPr>
        <p:spPr>
          <a:xfrm>
            <a:off x="4663440" y="2825496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4919472" y="2871216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Não reduzir abaixo de 80px de largura (digital)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6"/>
          <p:cNvSpPr/>
          <p:nvPr/>
        </p:nvSpPr>
        <p:spPr>
          <a:xfrm>
            <a:off x="4663440" y="3291840"/>
            <a:ext cx="201168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4663440" y="3273552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4919472" y="3319272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Não isolar "OLIVEIRA" sem o conjunto da marca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4663440" y="3739896"/>
            <a:ext cx="201168" cy="201168"/>
          </a:xfrm>
          <a:prstGeom prst="rect">
            <a:avLst/>
          </a:prstGeom>
          <a:solidFill>
            <a:srgbClr val="E0555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4663440" y="3721608"/>
            <a:ext cx="201168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✕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6"/>
          <p:cNvSpPr/>
          <p:nvPr/>
        </p:nvSpPr>
        <p:spPr>
          <a:xfrm>
            <a:off x="4919472" y="3767328"/>
            <a:ext cx="39319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Não recriar a fonte com similares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411480" y="3749040"/>
            <a:ext cx="374904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6" name="Google Shape;226;p6"/>
          <p:cNvSpPr/>
          <p:nvPr/>
        </p:nvSpPr>
        <p:spPr>
          <a:xfrm>
            <a:off x="411480" y="3822192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TAMANHO MÍNIMO: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6"/>
          <p:cNvSpPr/>
          <p:nvPr/>
        </p:nvSpPr>
        <p:spPr>
          <a:xfrm>
            <a:off x="411480" y="4050792"/>
            <a:ext cx="374904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Digital: 80px largura  ·  Impresso: 25mm largura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11480" y="1645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900"/>
              <a:buFont typeface="Georgia"/>
              <a:buNone/>
            </a:pPr>
            <a:r>
              <a:rPr b="1" i="0" lang="en-US" sz="19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TEMPLATE INSTAGRAM  1:1  (1080 × 1080 px)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65760" y="914400"/>
            <a:ext cx="3840480" cy="3931920"/>
          </a:xfrm>
          <a:prstGeom prst="rect">
            <a:avLst/>
          </a:prstGeom>
          <a:solidFill>
            <a:srgbClr val="0D0D0C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7"/>
          <p:cNvSpPr/>
          <p:nvPr/>
        </p:nvSpPr>
        <p:spPr>
          <a:xfrm>
            <a:off x="365760" y="914400"/>
            <a:ext cx="38404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65760" y="4809744"/>
            <a:ext cx="3840480" cy="36576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365760" y="2377440"/>
            <a:ext cx="3840480" cy="2468880"/>
          </a:xfrm>
          <a:prstGeom prst="rect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7"/>
          <p:cNvSpPr/>
          <p:nvPr/>
        </p:nvSpPr>
        <p:spPr>
          <a:xfrm>
            <a:off x="530352" y="1024128"/>
            <a:ext cx="3511296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600"/>
              <a:buFont typeface="Georgia"/>
              <a:buNone/>
            </a:pPr>
            <a:r>
              <a:rPr b="1" i="0" lang="en-US" sz="26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30352" y="1463040"/>
            <a:ext cx="35112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200"/>
              <a:buFont typeface="Georgia"/>
              <a:buNone/>
            </a:pPr>
            <a:r>
              <a:rPr b="0" i="0" lang="en-US" sz="12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7"/>
          <p:cNvSpPr/>
          <p:nvPr/>
        </p:nvSpPr>
        <p:spPr>
          <a:xfrm>
            <a:off x="530352" y="2304288"/>
            <a:ext cx="3383280" cy="12984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[TÍTULO 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CONTEÚDO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2000"/>
              <a:buFont typeface="Georgia"/>
              <a:buNone/>
            </a:pPr>
            <a:r>
              <a:rPr b="1" i="0" lang="en-US" sz="20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AQUI]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530352" y="373075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00"/>
              <a:buFont typeface="Georgia"/>
              <a:buNone/>
            </a:pPr>
            <a:r>
              <a:rPr b="0" i="1" lang="en-US" sz="800" u="none" cap="none" strike="noStrike">
                <a:solidFill>
                  <a:srgbClr val="A5C49A"/>
                </a:solidFill>
                <a:latin typeface="Georgia"/>
                <a:ea typeface="Georgia"/>
                <a:cs typeface="Georgia"/>
                <a:sym typeface="Georgia"/>
              </a:rPr>
              <a:t>Ecossistemas Comerciais Estratégicos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30352" y="4005072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@oliveiraimoveiis  ·  oliveiraimoveis.ia.br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7"/>
          <p:cNvSpPr/>
          <p:nvPr/>
        </p:nvSpPr>
        <p:spPr>
          <a:xfrm>
            <a:off x="4617720" y="960120"/>
            <a:ext cx="42519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ESPECIFICAÇÕES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4617720" y="1216152"/>
            <a:ext cx="425196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7"/>
          <p:cNvSpPr/>
          <p:nvPr/>
        </p:nvSpPr>
        <p:spPr>
          <a:xfrm>
            <a:off x="4617720" y="131673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Dimensões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7"/>
          <p:cNvSpPr/>
          <p:nvPr/>
        </p:nvSpPr>
        <p:spPr>
          <a:xfrm>
            <a:off x="6492240" y="131673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1080 × 1080 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4617720" y="165506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Proporção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6492240" y="165506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1:1 (quadrado)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7"/>
          <p:cNvSpPr/>
          <p:nvPr/>
        </p:nvSpPr>
        <p:spPr>
          <a:xfrm>
            <a:off x="4617720" y="199339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Formato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6492240" y="199339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JPG ou PNG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4617720" y="2331720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Resolução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7"/>
          <p:cNvSpPr/>
          <p:nvPr/>
        </p:nvSpPr>
        <p:spPr>
          <a:xfrm>
            <a:off x="6492240" y="2331720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72 DPI (screen)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7"/>
          <p:cNvSpPr/>
          <p:nvPr/>
        </p:nvSpPr>
        <p:spPr>
          <a:xfrm>
            <a:off x="4617720" y="2670048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Logo mín.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6492240" y="2670048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200px largura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4617720" y="3008376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Fonte display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7"/>
          <p:cNvSpPr/>
          <p:nvPr/>
        </p:nvSpPr>
        <p:spPr>
          <a:xfrm>
            <a:off x="6492240" y="3008376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Georgia Bold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4617720" y="3346704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Fonte corpo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6492240" y="3346704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Arial Regular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7"/>
          <p:cNvSpPr/>
          <p:nvPr/>
        </p:nvSpPr>
        <p:spPr>
          <a:xfrm>
            <a:off x="4617720" y="3685032"/>
            <a:ext cx="18288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Fundo pref.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6492240" y="3685032"/>
            <a:ext cx="23774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Preto Oliveira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4617720" y="4160520"/>
            <a:ext cx="42519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TIPOS DE POST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7"/>
          <p:cNvSpPr/>
          <p:nvPr/>
        </p:nvSpPr>
        <p:spPr>
          <a:xfrm>
            <a:off x="4617720" y="4407408"/>
            <a:ext cx="425196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Lançamento  ·  Depoimento  ·  Dica de mercado  ·  Bastidores  ·  Vaga disponível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8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8"/>
          <p:cNvSpPr/>
          <p:nvPr/>
        </p:nvSpPr>
        <p:spPr>
          <a:xfrm>
            <a:off x="411480" y="1645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TEMPLATE STORIES / TIKTOK  9:16  (1080 × 1920 px)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65760" y="914400"/>
            <a:ext cx="2286000" cy="3931920"/>
          </a:xfrm>
          <a:prstGeom prst="rect">
            <a:avLst/>
          </a:prstGeom>
          <a:solidFill>
            <a:srgbClr val="0D0D0C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365760" y="914400"/>
            <a:ext cx="2286000" cy="2743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457200" y="1005840"/>
            <a:ext cx="1737360" cy="36576"/>
          </a:xfrm>
          <a:prstGeom prst="rect">
            <a:avLst/>
          </a:prstGeom>
          <a:solidFill>
            <a:srgbClr val="2D2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8"/>
          <p:cNvSpPr/>
          <p:nvPr/>
        </p:nvSpPr>
        <p:spPr>
          <a:xfrm>
            <a:off x="457200" y="1005840"/>
            <a:ext cx="9144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8"/>
          <p:cNvSpPr/>
          <p:nvPr/>
        </p:nvSpPr>
        <p:spPr>
          <a:xfrm>
            <a:off x="475488" y="1097280"/>
            <a:ext cx="274320" cy="274320"/>
          </a:xfrm>
          <a:prstGeom prst="ellipse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786384" y="1143000"/>
            <a:ext cx="1645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oliveiraimoveiis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8"/>
          <p:cNvSpPr/>
          <p:nvPr/>
        </p:nvSpPr>
        <p:spPr>
          <a:xfrm>
            <a:off x="475488" y="1463040"/>
            <a:ext cx="20116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800"/>
              <a:buFont typeface="Georgia"/>
              <a:buNone/>
            </a:pPr>
            <a:r>
              <a:rPr b="1" i="0" lang="en-US" sz="1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475488" y="1847088"/>
            <a:ext cx="20116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900"/>
              <a:buFont typeface="Georgia"/>
              <a:buNone/>
            </a:pPr>
            <a:r>
              <a:rPr b="0" i="0" lang="en-US" sz="9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8"/>
          <p:cNvSpPr/>
          <p:nvPr/>
        </p:nvSpPr>
        <p:spPr>
          <a:xfrm>
            <a:off x="365760" y="2240280"/>
            <a:ext cx="2286000" cy="2606040"/>
          </a:xfrm>
          <a:prstGeom prst="rect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8"/>
          <p:cNvSpPr/>
          <p:nvPr/>
        </p:nvSpPr>
        <p:spPr>
          <a:xfrm>
            <a:off x="475488" y="2331720"/>
            <a:ext cx="20116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[HEADLINE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DO STORY]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8"/>
          <p:cNvSpPr/>
          <p:nvPr/>
        </p:nvSpPr>
        <p:spPr>
          <a:xfrm>
            <a:off x="475488" y="3639312"/>
            <a:ext cx="1938528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8"/>
          <p:cNvSpPr/>
          <p:nvPr/>
        </p:nvSpPr>
        <p:spPr>
          <a:xfrm>
            <a:off x="475488" y="3657600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VER MAIS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8"/>
          <p:cNvSpPr/>
          <p:nvPr/>
        </p:nvSpPr>
        <p:spPr>
          <a:xfrm>
            <a:off x="365760" y="4005072"/>
            <a:ext cx="2286000" cy="475488"/>
          </a:xfrm>
          <a:prstGeom prst="rect">
            <a:avLst/>
          </a:prstGeom>
          <a:solidFill>
            <a:srgbClr val="2D2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8"/>
          <p:cNvSpPr/>
          <p:nvPr/>
        </p:nvSpPr>
        <p:spPr>
          <a:xfrm>
            <a:off x="365760" y="4114800"/>
            <a:ext cx="2286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00"/>
              <a:buFont typeface="Arial"/>
              <a:buNone/>
            </a:pPr>
            <a:r>
              <a:rPr b="0" i="1" lang="en-US" sz="7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↕ zona safe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8"/>
          <p:cNvSpPr/>
          <p:nvPr/>
        </p:nvSpPr>
        <p:spPr>
          <a:xfrm>
            <a:off x="3017520" y="960120"/>
            <a:ext cx="58521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900"/>
              <a:buFont typeface="Arial"/>
              <a:buNone/>
            </a:pPr>
            <a:r>
              <a:rPr b="1" i="0" lang="en-US" sz="90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ESPECIFICAÇÕES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8"/>
          <p:cNvSpPr/>
          <p:nvPr/>
        </p:nvSpPr>
        <p:spPr>
          <a:xfrm>
            <a:off x="3017520" y="1216152"/>
            <a:ext cx="585216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8"/>
          <p:cNvSpPr/>
          <p:nvPr/>
        </p:nvSpPr>
        <p:spPr>
          <a:xfrm>
            <a:off x="3017520" y="131673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Dimensões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8"/>
          <p:cNvSpPr/>
          <p:nvPr/>
        </p:nvSpPr>
        <p:spPr>
          <a:xfrm>
            <a:off x="5349240" y="131673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1080 × 1920 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8"/>
          <p:cNvSpPr/>
          <p:nvPr/>
        </p:nvSpPr>
        <p:spPr>
          <a:xfrm>
            <a:off x="3017520" y="1700784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Proporção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5349240" y="1700784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9:16 (vertical)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3017520" y="2084832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Formato vídeo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5349240" y="2084832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MP4  ·  15–60s (TikTok) / 3–15s (Stories)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017520" y="2468880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Zona segura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5349240" y="2468880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250px topo e base — sem texto nem CTA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017520" y="2852928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Logo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349240" y="2852928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Sempre no 1/3 superior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3017520" y="3236976"/>
            <a:ext cx="22860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950"/>
              <a:buFont typeface="Arial"/>
              <a:buNone/>
            </a:pPr>
            <a:r>
              <a:rPr b="1" i="0" lang="en-US" sz="9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CTA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349240" y="3236976"/>
            <a:ext cx="3520440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1/3 inferior — botão dourado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017520" y="3794760"/>
            <a:ext cx="58521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ESTRUTURA DO STORY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3017520" y="4041648"/>
            <a:ext cx="585216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⬆ Zona safe  ·  Logo + identidade  ·  Headline principal  ·  Visual de impacto  ·  CTA + hashtags  ·  ⬇ Zona safe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9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D2D2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9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9"/>
          <p:cNvSpPr/>
          <p:nvPr/>
        </p:nvSpPr>
        <p:spPr>
          <a:xfrm>
            <a:off x="411480" y="164592"/>
            <a:ext cx="82296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1700"/>
              <a:buFont typeface="Georgia"/>
              <a:buNone/>
            </a:pPr>
            <a:r>
              <a:rPr b="1" i="0" lang="en-US" sz="17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TEMPLATE FACEBOOK / YOUTUBE  16:9  (1920 × 1080 px)</a:t>
            </a:r>
            <a:endParaRPr b="0" i="0" sz="1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9"/>
          <p:cNvSpPr/>
          <p:nvPr/>
        </p:nvSpPr>
        <p:spPr>
          <a:xfrm>
            <a:off x="365760" y="914400"/>
            <a:ext cx="8412480" cy="2606040"/>
          </a:xfrm>
          <a:prstGeom prst="rect">
            <a:avLst/>
          </a:prstGeom>
          <a:solidFill>
            <a:srgbClr val="0D0D0C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9"/>
          <p:cNvSpPr/>
          <p:nvPr/>
        </p:nvSpPr>
        <p:spPr>
          <a:xfrm>
            <a:off x="365760" y="914400"/>
            <a:ext cx="841248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9"/>
          <p:cNvSpPr/>
          <p:nvPr/>
        </p:nvSpPr>
        <p:spPr>
          <a:xfrm>
            <a:off x="365760" y="3483864"/>
            <a:ext cx="8412480" cy="36576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9"/>
          <p:cNvSpPr/>
          <p:nvPr/>
        </p:nvSpPr>
        <p:spPr>
          <a:xfrm>
            <a:off x="365760" y="950976"/>
            <a:ext cx="3200400" cy="2569464"/>
          </a:xfrm>
          <a:prstGeom prst="rect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9"/>
          <p:cNvSpPr/>
          <p:nvPr/>
        </p:nvSpPr>
        <p:spPr>
          <a:xfrm>
            <a:off x="530352" y="1170432"/>
            <a:ext cx="29260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3000"/>
              <a:buFont typeface="Georgia"/>
              <a:buNone/>
            </a:pPr>
            <a:r>
              <a:rPr b="1" i="0" lang="en-US" sz="30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3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530352" y="1874520"/>
            <a:ext cx="77724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9"/>
          <p:cNvSpPr/>
          <p:nvPr/>
        </p:nvSpPr>
        <p:spPr>
          <a:xfrm>
            <a:off x="2286000" y="1874520"/>
            <a:ext cx="109728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9"/>
          <p:cNvSpPr/>
          <p:nvPr/>
        </p:nvSpPr>
        <p:spPr>
          <a:xfrm>
            <a:off x="530352" y="1755648"/>
            <a:ext cx="292608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300"/>
              <a:buFont typeface="Georgia"/>
              <a:buNone/>
            </a:pPr>
            <a:r>
              <a:rPr b="0" i="0" lang="en-US" sz="13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30352" y="2029968"/>
            <a:ext cx="29260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650"/>
              <a:buFont typeface="Arial"/>
              <a:buNone/>
            </a:pPr>
            <a:r>
              <a:rPr b="0" i="0" lang="en-US" sz="65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EMPREENDIMENTOS LTDA</a:t>
            </a:r>
            <a:endParaRPr b="0" i="0" sz="6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30352" y="2816352"/>
            <a:ext cx="283464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A5C49A"/>
                </a:solidFill>
                <a:latin typeface="Georgia"/>
                <a:ea typeface="Georgia"/>
                <a:cs typeface="Georgia"/>
                <a:sym typeface="Georgia"/>
              </a:rPr>
              <a:t>Ecossistemas Comerciais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950"/>
              <a:buFont typeface="Georgia"/>
              <a:buNone/>
            </a:pPr>
            <a:r>
              <a:rPr b="0" i="1" lang="en-US" sz="950" u="none" cap="none" strike="noStrike">
                <a:solidFill>
                  <a:srgbClr val="A5C49A"/>
                </a:solidFill>
                <a:latin typeface="Georgia"/>
                <a:ea typeface="Georgia"/>
                <a:cs typeface="Georgia"/>
                <a:sym typeface="Georgia"/>
              </a:rPr>
              <a:t>Estratégicos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3794760" y="1170432"/>
            <a:ext cx="466344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[TÍTULO PRINCIPAL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2400"/>
              <a:buFont typeface="Georgia"/>
              <a:buNone/>
            </a:pPr>
            <a:r>
              <a:rPr b="1" i="0" lang="en-US" sz="24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DA PUBLICAÇÃO]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3794760" y="2148840"/>
            <a:ext cx="46634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1200"/>
              <a:buFont typeface="Arial"/>
              <a:buNone/>
            </a:pPr>
            <a:r>
              <a:rPr b="0" i="0" lang="en-US" sz="12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[Subtítulo de apoio — máx. 2 linhas de texto aqui.]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3794760" y="2834640"/>
            <a:ext cx="2011680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9"/>
          <p:cNvSpPr/>
          <p:nvPr/>
        </p:nvSpPr>
        <p:spPr>
          <a:xfrm>
            <a:off x="3794760" y="2852928"/>
            <a:ext cx="20116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0D0C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0D0D0C"/>
                </a:solidFill>
                <a:latin typeface="Arial"/>
                <a:ea typeface="Arial"/>
                <a:cs typeface="Arial"/>
                <a:sym typeface="Arial"/>
              </a:rPr>
              <a:t>SAIBA MAIS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411480" y="3730752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ESPECIFICAÇÕES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411480" y="3959352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Dimensões: 1920 × 1080 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9"/>
          <p:cNvSpPr/>
          <p:nvPr/>
        </p:nvSpPr>
        <p:spPr>
          <a:xfrm>
            <a:off x="411480" y="4233672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Proporção: 16:9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9"/>
          <p:cNvSpPr/>
          <p:nvPr/>
        </p:nvSpPr>
        <p:spPr>
          <a:xfrm>
            <a:off x="411480" y="4507992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Formatos: JPG · PNG · MP4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411480" y="4782312"/>
            <a:ext cx="41148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Thumb YT mínimo: 1280×720 px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9"/>
          <p:cNvSpPr/>
          <p:nvPr/>
        </p:nvSpPr>
        <p:spPr>
          <a:xfrm>
            <a:off x="4937760" y="3730752"/>
            <a:ext cx="38862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ESTRUTURA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9"/>
          <p:cNvSpPr/>
          <p:nvPr/>
        </p:nvSpPr>
        <p:spPr>
          <a:xfrm>
            <a:off x="4937760" y="3959352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✦ 1/3 esq.: Logo + identidade verde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9"/>
          <p:cNvSpPr/>
          <p:nvPr/>
        </p:nvSpPr>
        <p:spPr>
          <a:xfrm>
            <a:off x="4937760" y="4233672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✦ 2/3 dir.: Headline + copy + CTA dourado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9"/>
          <p:cNvSpPr/>
          <p:nvPr/>
        </p:nvSpPr>
        <p:spPr>
          <a:xfrm>
            <a:off x="4937760" y="4507992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✦ Fundo: foto com overlay escuro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9"/>
          <p:cNvSpPr/>
          <p:nvPr/>
        </p:nvSpPr>
        <p:spPr>
          <a:xfrm>
            <a:off x="4937760" y="4782312"/>
            <a:ext cx="3886200" cy="2468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✦ Barra dourada topo · verde base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p1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1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1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0"/>
          <p:cNvSpPr/>
          <p:nvPr/>
        </p:nvSpPr>
        <p:spPr>
          <a:xfrm>
            <a:off x="457200" y="201168"/>
            <a:ext cx="64008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3200"/>
              <a:buFont typeface="Georgia"/>
              <a:buNone/>
            </a:pPr>
            <a:r>
              <a:rPr b="1" i="0" lang="en-US" sz="3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VOZ &amp; TOM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457200" y="713232"/>
            <a:ext cx="731520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100"/>
              <a:buFont typeface="Arial"/>
              <a:buNone/>
            </a:pPr>
            <a:r>
              <a:rPr b="0" i="1" lang="en-US" sz="11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Como a Oliveira Imóveis se comunica com o mundo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457200" y="1024128"/>
            <a:ext cx="822960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10"/>
          <p:cNvSpPr/>
          <p:nvPr/>
        </p:nvSpPr>
        <p:spPr>
          <a:xfrm>
            <a:off x="457200" y="114300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PERSONALIDADE DA MARCA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457200" y="1444752"/>
            <a:ext cx="36576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10"/>
          <p:cNvSpPr/>
          <p:nvPr/>
        </p:nvSpPr>
        <p:spPr>
          <a:xfrm>
            <a:off x="594360" y="1444752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Confiante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0"/>
          <p:cNvSpPr/>
          <p:nvPr/>
        </p:nvSpPr>
        <p:spPr>
          <a:xfrm>
            <a:off x="594360" y="1700784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Fala com clareza, sem exageros. Os dados falam por si.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0"/>
          <p:cNvSpPr/>
          <p:nvPr/>
        </p:nvSpPr>
        <p:spPr>
          <a:xfrm>
            <a:off x="457200" y="2066544"/>
            <a:ext cx="36576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10"/>
          <p:cNvSpPr/>
          <p:nvPr/>
        </p:nvSpPr>
        <p:spPr>
          <a:xfrm>
            <a:off x="594360" y="2066544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Estratégica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0"/>
          <p:cNvSpPr/>
          <p:nvPr/>
        </p:nvSpPr>
        <p:spPr>
          <a:xfrm>
            <a:off x="594360" y="2322576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Cada comunicação tem propósito. Zero filler.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10"/>
          <p:cNvSpPr/>
          <p:nvPr/>
        </p:nvSpPr>
        <p:spPr>
          <a:xfrm>
            <a:off x="457200" y="2688336"/>
            <a:ext cx="36576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10"/>
          <p:cNvSpPr/>
          <p:nvPr/>
        </p:nvSpPr>
        <p:spPr>
          <a:xfrm>
            <a:off x="594360" y="2688336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Calorosa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10"/>
          <p:cNvSpPr/>
          <p:nvPr/>
        </p:nvSpPr>
        <p:spPr>
          <a:xfrm>
            <a:off x="594360" y="2944368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Humana e próxima, sem perder a elegância.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10"/>
          <p:cNvSpPr/>
          <p:nvPr/>
        </p:nvSpPr>
        <p:spPr>
          <a:xfrm>
            <a:off x="457200" y="3310128"/>
            <a:ext cx="36576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10"/>
          <p:cNvSpPr/>
          <p:nvPr/>
        </p:nvSpPr>
        <p:spPr>
          <a:xfrm>
            <a:off x="594360" y="3310128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Inovadora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0"/>
          <p:cNvSpPr/>
          <p:nvPr/>
        </p:nvSpPr>
        <p:spPr>
          <a:xfrm>
            <a:off x="594360" y="3566160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Usa tecnologia sem jargão. Explica, não impressiona.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0"/>
          <p:cNvSpPr/>
          <p:nvPr/>
        </p:nvSpPr>
        <p:spPr>
          <a:xfrm>
            <a:off x="457200" y="3931920"/>
            <a:ext cx="36576" cy="38404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10"/>
          <p:cNvSpPr/>
          <p:nvPr/>
        </p:nvSpPr>
        <p:spPr>
          <a:xfrm>
            <a:off x="594360" y="3931920"/>
            <a:ext cx="34747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Premium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10"/>
          <p:cNvSpPr/>
          <p:nvPr/>
        </p:nvSpPr>
        <p:spPr>
          <a:xfrm>
            <a:off x="594360" y="4187952"/>
            <a:ext cx="34747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900"/>
              <a:buFont typeface="Arial"/>
              <a:buNone/>
            </a:pPr>
            <a:r>
              <a:rPr b="0" i="1" lang="en-US" sz="9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Qualidade visual em tudo. Nada é genérico.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0"/>
          <p:cNvSpPr/>
          <p:nvPr/>
        </p:nvSpPr>
        <p:spPr>
          <a:xfrm>
            <a:off x="4754880" y="1143000"/>
            <a:ext cx="41148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TOM POR CONTEXTO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0"/>
          <p:cNvSpPr/>
          <p:nvPr/>
        </p:nvSpPr>
        <p:spPr>
          <a:xfrm>
            <a:off x="4754880" y="1444752"/>
            <a:ext cx="4114800" cy="438912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10"/>
          <p:cNvSpPr/>
          <p:nvPr/>
        </p:nvSpPr>
        <p:spPr>
          <a:xfrm>
            <a:off x="4892040" y="1472184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Redes Sociais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0"/>
          <p:cNvSpPr/>
          <p:nvPr/>
        </p:nvSpPr>
        <p:spPr>
          <a:xfrm>
            <a:off x="4892040" y="1700784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C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4E8CE"/>
                </a:solidFill>
                <a:latin typeface="Arial"/>
                <a:ea typeface="Arial"/>
                <a:cs typeface="Arial"/>
                <a:sym typeface="Arial"/>
              </a:rPr>
              <a:t>Direto, encorajador, visual.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10"/>
          <p:cNvSpPr/>
          <p:nvPr/>
        </p:nvSpPr>
        <p:spPr>
          <a:xfrm>
            <a:off x="4754880" y="2066544"/>
            <a:ext cx="4114800" cy="438912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0" name="Google Shape;370;p10"/>
          <p:cNvSpPr/>
          <p:nvPr/>
        </p:nvSpPr>
        <p:spPr>
          <a:xfrm>
            <a:off x="4892040" y="2093976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Proposta Comercial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0"/>
          <p:cNvSpPr/>
          <p:nvPr/>
        </p:nvSpPr>
        <p:spPr>
          <a:xfrm>
            <a:off x="4892040" y="2322576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C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4E8CE"/>
                </a:solidFill>
                <a:latin typeface="Arial"/>
                <a:ea typeface="Arial"/>
                <a:cs typeface="Arial"/>
                <a:sym typeface="Arial"/>
              </a:rPr>
              <a:t>Formal, técnico, orientado a resultado.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10"/>
          <p:cNvSpPr/>
          <p:nvPr/>
        </p:nvSpPr>
        <p:spPr>
          <a:xfrm>
            <a:off x="4754880" y="2688336"/>
            <a:ext cx="4114800" cy="438912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3" name="Google Shape;373;p10"/>
          <p:cNvSpPr/>
          <p:nvPr/>
        </p:nvSpPr>
        <p:spPr>
          <a:xfrm>
            <a:off x="4892040" y="2715768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E-mail marketing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10"/>
          <p:cNvSpPr/>
          <p:nvPr/>
        </p:nvSpPr>
        <p:spPr>
          <a:xfrm>
            <a:off x="4892040" y="29443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C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4E8CE"/>
                </a:solidFill>
                <a:latin typeface="Arial"/>
                <a:ea typeface="Arial"/>
                <a:cs typeface="Arial"/>
                <a:sym typeface="Arial"/>
              </a:rPr>
              <a:t>Consultivo, claro, personalizado.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10"/>
          <p:cNvSpPr/>
          <p:nvPr/>
        </p:nvSpPr>
        <p:spPr>
          <a:xfrm>
            <a:off x="4754880" y="3310128"/>
            <a:ext cx="4114800" cy="438912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10"/>
          <p:cNvSpPr/>
          <p:nvPr/>
        </p:nvSpPr>
        <p:spPr>
          <a:xfrm>
            <a:off x="4892040" y="3337560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Stories / TikTok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0"/>
          <p:cNvSpPr/>
          <p:nvPr/>
        </p:nvSpPr>
        <p:spPr>
          <a:xfrm>
            <a:off x="4892040" y="3566160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C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4E8CE"/>
                </a:solidFill>
                <a:latin typeface="Arial"/>
                <a:ea typeface="Arial"/>
                <a:cs typeface="Arial"/>
                <a:sym typeface="Arial"/>
              </a:rPr>
              <a:t>Dinâmico, urgente, conversacional.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0"/>
          <p:cNvSpPr/>
          <p:nvPr/>
        </p:nvSpPr>
        <p:spPr>
          <a:xfrm>
            <a:off x="4754880" y="3931920"/>
            <a:ext cx="4114800" cy="438912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10"/>
          <p:cNvSpPr/>
          <p:nvPr/>
        </p:nvSpPr>
        <p:spPr>
          <a:xfrm>
            <a:off x="4892040" y="3959352"/>
            <a:ext cx="38404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150"/>
              <a:buFont typeface="Georgia"/>
              <a:buNone/>
            </a:pPr>
            <a:r>
              <a:rPr b="1" i="0" lang="en-US" sz="115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Site</a:t>
            </a:r>
            <a:endParaRPr b="0" i="0" sz="11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10"/>
          <p:cNvSpPr/>
          <p:nvPr/>
        </p:nvSpPr>
        <p:spPr>
          <a:xfrm>
            <a:off x="4892040" y="4187952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D4E8CE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D4E8CE"/>
                </a:solidFill>
                <a:latin typeface="Arial"/>
                <a:ea typeface="Arial"/>
                <a:cs typeface="Arial"/>
                <a:sym typeface="Arial"/>
              </a:rPr>
              <a:t>Informativo, premium, confiante.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7" name="Google Shape;387;p11"/>
          <p:cNvSpPr/>
          <p:nvPr/>
        </p:nvSpPr>
        <p:spPr>
          <a:xfrm>
            <a:off x="0" y="0"/>
            <a:ext cx="9144000" cy="804672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11"/>
          <p:cNvSpPr/>
          <p:nvPr/>
        </p:nvSpPr>
        <p:spPr>
          <a:xfrm>
            <a:off x="0" y="804672"/>
            <a:ext cx="91440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11"/>
          <p:cNvSpPr/>
          <p:nvPr/>
        </p:nvSpPr>
        <p:spPr>
          <a:xfrm>
            <a:off x="411480" y="18288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ESPECIFICAÇÕES TÉCNICAS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11"/>
          <p:cNvSpPr/>
          <p:nvPr/>
        </p:nvSpPr>
        <p:spPr>
          <a:xfrm>
            <a:off x="411480" y="932688"/>
            <a:ext cx="1508760" cy="27432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11"/>
          <p:cNvSpPr/>
          <p:nvPr/>
        </p:nvSpPr>
        <p:spPr>
          <a:xfrm>
            <a:off x="448056" y="932688"/>
            <a:ext cx="147218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Cor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11"/>
          <p:cNvSpPr/>
          <p:nvPr/>
        </p:nvSpPr>
        <p:spPr>
          <a:xfrm>
            <a:off x="1965960" y="932688"/>
            <a:ext cx="841248" cy="27432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3" name="Google Shape;393;p11"/>
          <p:cNvSpPr/>
          <p:nvPr/>
        </p:nvSpPr>
        <p:spPr>
          <a:xfrm>
            <a:off x="2002536" y="932688"/>
            <a:ext cx="804672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HEX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11"/>
          <p:cNvSpPr/>
          <p:nvPr/>
        </p:nvSpPr>
        <p:spPr>
          <a:xfrm>
            <a:off x="2852928" y="932688"/>
            <a:ext cx="1170432" cy="27432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11"/>
          <p:cNvSpPr/>
          <p:nvPr/>
        </p:nvSpPr>
        <p:spPr>
          <a:xfrm>
            <a:off x="2889504" y="932688"/>
            <a:ext cx="1133856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RGB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11"/>
          <p:cNvSpPr/>
          <p:nvPr/>
        </p:nvSpPr>
        <p:spPr>
          <a:xfrm>
            <a:off x="4069080" y="932688"/>
            <a:ext cx="1325880" cy="27432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11"/>
          <p:cNvSpPr/>
          <p:nvPr/>
        </p:nvSpPr>
        <p:spPr>
          <a:xfrm>
            <a:off x="4105656" y="932688"/>
            <a:ext cx="1289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CMYK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11"/>
          <p:cNvSpPr/>
          <p:nvPr/>
        </p:nvSpPr>
        <p:spPr>
          <a:xfrm>
            <a:off x="5440680" y="932688"/>
            <a:ext cx="1325880" cy="27432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11"/>
          <p:cNvSpPr/>
          <p:nvPr/>
        </p:nvSpPr>
        <p:spPr>
          <a:xfrm>
            <a:off x="5477256" y="932688"/>
            <a:ext cx="12893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Pantone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11"/>
          <p:cNvSpPr/>
          <p:nvPr/>
        </p:nvSpPr>
        <p:spPr>
          <a:xfrm>
            <a:off x="6812280" y="932688"/>
            <a:ext cx="2011680" cy="274320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11"/>
          <p:cNvSpPr/>
          <p:nvPr/>
        </p:nvSpPr>
        <p:spPr>
          <a:xfrm>
            <a:off x="6848856" y="932688"/>
            <a:ext cx="1975104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F5F2EC"/>
                </a:solidFill>
                <a:latin typeface="Arial"/>
                <a:ea typeface="Arial"/>
                <a:cs typeface="Arial"/>
                <a:sym typeface="Arial"/>
              </a:rPr>
              <a:t>Uso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11"/>
          <p:cNvSpPr/>
          <p:nvPr/>
        </p:nvSpPr>
        <p:spPr>
          <a:xfrm>
            <a:off x="411480" y="1207008"/>
            <a:ext cx="8412480" cy="402336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11"/>
          <p:cNvSpPr/>
          <p:nvPr/>
        </p:nvSpPr>
        <p:spPr>
          <a:xfrm>
            <a:off x="411480" y="1261872"/>
            <a:ext cx="201168" cy="292608"/>
          </a:xfrm>
          <a:prstGeom prst="rect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11"/>
          <p:cNvSpPr/>
          <p:nvPr/>
        </p:nvSpPr>
        <p:spPr>
          <a:xfrm>
            <a:off x="658368" y="1298448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Profundo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11"/>
          <p:cNvSpPr/>
          <p:nvPr/>
        </p:nvSpPr>
        <p:spPr>
          <a:xfrm>
            <a:off x="2002536" y="1298448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#3D5A30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11"/>
          <p:cNvSpPr/>
          <p:nvPr/>
        </p:nvSpPr>
        <p:spPr>
          <a:xfrm>
            <a:off x="2889504" y="129844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61, 90, 48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11"/>
          <p:cNvSpPr/>
          <p:nvPr/>
        </p:nvSpPr>
        <p:spPr>
          <a:xfrm>
            <a:off x="4105656" y="1298448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C54 M28 Y87 K20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11"/>
          <p:cNvSpPr/>
          <p:nvPr/>
        </p:nvSpPr>
        <p:spPr>
          <a:xfrm>
            <a:off x="5477256" y="1298448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PANTONE 7742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11"/>
          <p:cNvSpPr/>
          <p:nvPr/>
        </p:nvSpPr>
        <p:spPr>
          <a:xfrm>
            <a:off x="6848856" y="1298448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Fundo escuro · âncora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11"/>
          <p:cNvSpPr/>
          <p:nvPr/>
        </p:nvSpPr>
        <p:spPr>
          <a:xfrm>
            <a:off x="411480" y="1609344"/>
            <a:ext cx="841248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11"/>
          <p:cNvSpPr/>
          <p:nvPr/>
        </p:nvSpPr>
        <p:spPr>
          <a:xfrm>
            <a:off x="411480" y="1664208"/>
            <a:ext cx="201168" cy="292608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11"/>
          <p:cNvSpPr/>
          <p:nvPr/>
        </p:nvSpPr>
        <p:spPr>
          <a:xfrm>
            <a:off x="658368" y="1700784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Oliveira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11"/>
          <p:cNvSpPr/>
          <p:nvPr/>
        </p:nvSpPr>
        <p:spPr>
          <a:xfrm>
            <a:off x="2002536" y="1700784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#5B7A4A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11"/>
          <p:cNvSpPr/>
          <p:nvPr/>
        </p:nvSpPr>
        <p:spPr>
          <a:xfrm>
            <a:off x="2889504" y="170078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91,122, 74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11"/>
          <p:cNvSpPr/>
          <p:nvPr/>
        </p:nvSpPr>
        <p:spPr>
          <a:xfrm>
            <a:off x="4105656" y="1700784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C46 M19 Y78 K5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11"/>
          <p:cNvSpPr/>
          <p:nvPr/>
        </p:nvSpPr>
        <p:spPr>
          <a:xfrm>
            <a:off x="5477256" y="1700784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PANTONE 577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11"/>
          <p:cNvSpPr/>
          <p:nvPr/>
        </p:nvSpPr>
        <p:spPr>
          <a:xfrm>
            <a:off x="6848856" y="1700784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Cor primária · headers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11"/>
          <p:cNvSpPr/>
          <p:nvPr/>
        </p:nvSpPr>
        <p:spPr>
          <a:xfrm>
            <a:off x="411480" y="2011680"/>
            <a:ext cx="8412480" cy="402336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11"/>
          <p:cNvSpPr/>
          <p:nvPr/>
        </p:nvSpPr>
        <p:spPr>
          <a:xfrm>
            <a:off x="411480" y="2066544"/>
            <a:ext cx="201168" cy="292608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p11"/>
          <p:cNvSpPr/>
          <p:nvPr/>
        </p:nvSpPr>
        <p:spPr>
          <a:xfrm>
            <a:off x="658368" y="210312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Médio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11"/>
          <p:cNvSpPr/>
          <p:nvPr/>
        </p:nvSpPr>
        <p:spPr>
          <a:xfrm>
            <a:off x="2002536" y="210312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#7A9E65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11"/>
          <p:cNvSpPr/>
          <p:nvPr/>
        </p:nvSpPr>
        <p:spPr>
          <a:xfrm>
            <a:off x="2889504" y="210312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122,158,101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11"/>
          <p:cNvSpPr/>
          <p:nvPr/>
        </p:nvSpPr>
        <p:spPr>
          <a:xfrm>
            <a:off x="4105656" y="2103120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C38 M10 Y62 K1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11"/>
          <p:cNvSpPr/>
          <p:nvPr/>
        </p:nvSpPr>
        <p:spPr>
          <a:xfrm>
            <a:off x="5477256" y="2103120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PANTONE 7730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11"/>
          <p:cNvSpPr/>
          <p:nvPr/>
        </p:nvSpPr>
        <p:spPr>
          <a:xfrm>
            <a:off x="6848856" y="2103120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Suporte · secundário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11"/>
          <p:cNvSpPr/>
          <p:nvPr/>
        </p:nvSpPr>
        <p:spPr>
          <a:xfrm>
            <a:off x="411480" y="2414016"/>
            <a:ext cx="841248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p11"/>
          <p:cNvSpPr/>
          <p:nvPr/>
        </p:nvSpPr>
        <p:spPr>
          <a:xfrm>
            <a:off x="411480" y="2468880"/>
            <a:ext cx="201168" cy="292608"/>
          </a:xfrm>
          <a:prstGeom prst="rect">
            <a:avLst/>
          </a:prstGeom>
          <a:solidFill>
            <a:srgbClr val="A5C49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8" name="Google Shape;428;p11"/>
          <p:cNvSpPr/>
          <p:nvPr/>
        </p:nvSpPr>
        <p:spPr>
          <a:xfrm>
            <a:off x="658368" y="2505456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Verde Claro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11"/>
          <p:cNvSpPr/>
          <p:nvPr/>
        </p:nvSpPr>
        <p:spPr>
          <a:xfrm>
            <a:off x="2002536" y="2505456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#A5C49A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11"/>
          <p:cNvSpPr/>
          <p:nvPr/>
        </p:nvSpPr>
        <p:spPr>
          <a:xfrm>
            <a:off x="2889504" y="250545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165,196,154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11"/>
          <p:cNvSpPr/>
          <p:nvPr/>
        </p:nvSpPr>
        <p:spPr>
          <a:xfrm>
            <a:off x="4105656" y="2505456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C27 M5 Y40 K0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11"/>
          <p:cNvSpPr/>
          <p:nvPr/>
        </p:nvSpPr>
        <p:spPr>
          <a:xfrm>
            <a:off x="5477256" y="2505456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PANTONE 7485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3" name="Google Shape;433;p11"/>
          <p:cNvSpPr/>
          <p:nvPr/>
        </p:nvSpPr>
        <p:spPr>
          <a:xfrm>
            <a:off x="6848856" y="250545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Acento suave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11"/>
          <p:cNvSpPr/>
          <p:nvPr/>
        </p:nvSpPr>
        <p:spPr>
          <a:xfrm>
            <a:off x="411480" y="2816352"/>
            <a:ext cx="8412480" cy="402336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5" name="Google Shape;435;p11"/>
          <p:cNvSpPr/>
          <p:nvPr/>
        </p:nvSpPr>
        <p:spPr>
          <a:xfrm>
            <a:off x="411480" y="2871216"/>
            <a:ext cx="201168" cy="29260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p11"/>
          <p:cNvSpPr/>
          <p:nvPr/>
        </p:nvSpPr>
        <p:spPr>
          <a:xfrm>
            <a:off x="658368" y="2907792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Dourado Oliveira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11"/>
          <p:cNvSpPr/>
          <p:nvPr/>
        </p:nvSpPr>
        <p:spPr>
          <a:xfrm>
            <a:off x="2002536" y="2907792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#C9A84C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11"/>
          <p:cNvSpPr/>
          <p:nvPr/>
        </p:nvSpPr>
        <p:spPr>
          <a:xfrm>
            <a:off x="2889504" y="2907792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201,168, 76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11"/>
          <p:cNvSpPr/>
          <p:nvPr/>
        </p:nvSpPr>
        <p:spPr>
          <a:xfrm>
            <a:off x="4105656" y="2907792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C17 M29 Y82 K0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11"/>
          <p:cNvSpPr/>
          <p:nvPr/>
        </p:nvSpPr>
        <p:spPr>
          <a:xfrm>
            <a:off x="5477256" y="2907792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PANTONE 7554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11"/>
          <p:cNvSpPr/>
          <p:nvPr/>
        </p:nvSpPr>
        <p:spPr>
          <a:xfrm>
            <a:off x="6848856" y="2907792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Logo · acento principal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11"/>
          <p:cNvSpPr/>
          <p:nvPr/>
        </p:nvSpPr>
        <p:spPr>
          <a:xfrm>
            <a:off x="411480" y="3218688"/>
            <a:ext cx="841248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3" name="Google Shape;443;p11"/>
          <p:cNvSpPr/>
          <p:nvPr/>
        </p:nvSpPr>
        <p:spPr>
          <a:xfrm>
            <a:off x="411480" y="3273552"/>
            <a:ext cx="201168" cy="292608"/>
          </a:xfrm>
          <a:prstGeom prst="rect">
            <a:avLst/>
          </a:prstGeom>
          <a:solidFill>
            <a:srgbClr val="A888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" name="Google Shape;444;p11"/>
          <p:cNvSpPr/>
          <p:nvPr/>
        </p:nvSpPr>
        <p:spPr>
          <a:xfrm>
            <a:off x="658368" y="3310128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Dourado Escuro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11"/>
          <p:cNvSpPr/>
          <p:nvPr/>
        </p:nvSpPr>
        <p:spPr>
          <a:xfrm>
            <a:off x="2002536" y="3310128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#A88830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11"/>
          <p:cNvSpPr/>
          <p:nvPr/>
        </p:nvSpPr>
        <p:spPr>
          <a:xfrm>
            <a:off x="2889504" y="3310128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168,136, 48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11"/>
          <p:cNvSpPr/>
          <p:nvPr/>
        </p:nvSpPr>
        <p:spPr>
          <a:xfrm>
            <a:off x="4105656" y="3310128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C27 M36 Y93 K4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11"/>
          <p:cNvSpPr/>
          <p:nvPr/>
        </p:nvSpPr>
        <p:spPr>
          <a:xfrm>
            <a:off x="5477256" y="3310128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PANTONE 131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9" name="Google Shape;449;p11"/>
          <p:cNvSpPr/>
          <p:nvPr/>
        </p:nvSpPr>
        <p:spPr>
          <a:xfrm>
            <a:off x="6848856" y="3310128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Tom profundo dourado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0" name="Google Shape;450;p11"/>
          <p:cNvSpPr/>
          <p:nvPr/>
        </p:nvSpPr>
        <p:spPr>
          <a:xfrm>
            <a:off x="411480" y="3621024"/>
            <a:ext cx="8412480" cy="402336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11"/>
          <p:cNvSpPr/>
          <p:nvPr/>
        </p:nvSpPr>
        <p:spPr>
          <a:xfrm>
            <a:off x="411480" y="3675888"/>
            <a:ext cx="201168" cy="292608"/>
          </a:xfrm>
          <a:prstGeom prst="rect">
            <a:avLst/>
          </a:prstGeom>
          <a:solidFill>
            <a:srgbClr val="E2C97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2" name="Google Shape;452;p11"/>
          <p:cNvSpPr/>
          <p:nvPr/>
        </p:nvSpPr>
        <p:spPr>
          <a:xfrm>
            <a:off x="658368" y="3712464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Dourado Claro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11"/>
          <p:cNvSpPr/>
          <p:nvPr/>
        </p:nvSpPr>
        <p:spPr>
          <a:xfrm>
            <a:off x="2002536" y="3712464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#E2C97A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11"/>
          <p:cNvSpPr/>
          <p:nvPr/>
        </p:nvSpPr>
        <p:spPr>
          <a:xfrm>
            <a:off x="2889504" y="3712464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226,201,122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11"/>
          <p:cNvSpPr/>
          <p:nvPr/>
        </p:nvSpPr>
        <p:spPr>
          <a:xfrm>
            <a:off x="4105656" y="3712464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C10 M19 Y60 K0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11"/>
          <p:cNvSpPr/>
          <p:nvPr/>
        </p:nvSpPr>
        <p:spPr>
          <a:xfrm>
            <a:off x="5477256" y="3712464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PANTONE 120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7" name="Google Shape;457;p11"/>
          <p:cNvSpPr/>
          <p:nvPr/>
        </p:nvSpPr>
        <p:spPr>
          <a:xfrm>
            <a:off x="6848856" y="3712464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Texto dourado em escuro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11"/>
          <p:cNvSpPr/>
          <p:nvPr/>
        </p:nvSpPr>
        <p:spPr>
          <a:xfrm>
            <a:off x="411480" y="4023360"/>
            <a:ext cx="8412480" cy="402336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11"/>
          <p:cNvSpPr/>
          <p:nvPr/>
        </p:nvSpPr>
        <p:spPr>
          <a:xfrm>
            <a:off x="411480" y="4078224"/>
            <a:ext cx="201168" cy="292608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11"/>
          <p:cNvSpPr/>
          <p:nvPr/>
        </p:nvSpPr>
        <p:spPr>
          <a:xfrm>
            <a:off x="658368" y="4114800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Preto Oliveira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11"/>
          <p:cNvSpPr/>
          <p:nvPr/>
        </p:nvSpPr>
        <p:spPr>
          <a:xfrm>
            <a:off x="2002536" y="4114800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#0D0D0C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2" name="Google Shape;462;p11"/>
          <p:cNvSpPr/>
          <p:nvPr/>
        </p:nvSpPr>
        <p:spPr>
          <a:xfrm>
            <a:off x="2889504" y="4114800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13, 13, 12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11"/>
          <p:cNvSpPr/>
          <p:nvPr/>
        </p:nvSpPr>
        <p:spPr>
          <a:xfrm>
            <a:off x="4105656" y="4114800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C0 M0 Y7 K95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11"/>
          <p:cNvSpPr/>
          <p:nvPr/>
        </p:nvSpPr>
        <p:spPr>
          <a:xfrm>
            <a:off x="5477256" y="4114800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Black 7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1"/>
          <p:cNvSpPr/>
          <p:nvPr/>
        </p:nvSpPr>
        <p:spPr>
          <a:xfrm>
            <a:off x="6848856" y="4114800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Fundo principal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11"/>
          <p:cNvSpPr/>
          <p:nvPr/>
        </p:nvSpPr>
        <p:spPr>
          <a:xfrm>
            <a:off x="411480" y="4425696"/>
            <a:ext cx="8412480" cy="402336"/>
          </a:xfrm>
          <a:prstGeom prst="rect">
            <a:avLst/>
          </a:prstGeom>
          <a:solidFill>
            <a:srgbClr val="EDEAE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11"/>
          <p:cNvSpPr/>
          <p:nvPr/>
        </p:nvSpPr>
        <p:spPr>
          <a:xfrm>
            <a:off x="411480" y="4480560"/>
            <a:ext cx="201168" cy="292608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11"/>
          <p:cNvSpPr/>
          <p:nvPr/>
        </p:nvSpPr>
        <p:spPr>
          <a:xfrm>
            <a:off x="658368" y="4517136"/>
            <a:ext cx="1261872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Creme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11"/>
          <p:cNvSpPr/>
          <p:nvPr/>
        </p:nvSpPr>
        <p:spPr>
          <a:xfrm>
            <a:off x="2002536" y="4517136"/>
            <a:ext cx="768096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#F5F2EC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11"/>
          <p:cNvSpPr/>
          <p:nvPr/>
        </p:nvSpPr>
        <p:spPr>
          <a:xfrm>
            <a:off x="2889504" y="4517136"/>
            <a:ext cx="10972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245,242,236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11"/>
          <p:cNvSpPr/>
          <p:nvPr/>
        </p:nvSpPr>
        <p:spPr>
          <a:xfrm>
            <a:off x="4105656" y="4517136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C2 M2 Y6 K0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11"/>
          <p:cNvSpPr/>
          <p:nvPr/>
        </p:nvSpPr>
        <p:spPr>
          <a:xfrm>
            <a:off x="5477256" y="4517136"/>
            <a:ext cx="12527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PANTONE 9180 C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11"/>
          <p:cNvSpPr/>
          <p:nvPr/>
        </p:nvSpPr>
        <p:spPr>
          <a:xfrm>
            <a:off x="6848856" y="4517136"/>
            <a:ext cx="1938528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750"/>
              <a:buFont typeface="Arial"/>
              <a:buNone/>
            </a:pPr>
            <a:r>
              <a:rPr b="0" i="0" lang="en-US" sz="7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Fundo claro · texto escuro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8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12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2E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12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12"/>
          <p:cNvSpPr/>
          <p:nvPr/>
        </p:nvSpPr>
        <p:spPr>
          <a:xfrm>
            <a:off x="0" y="749808"/>
            <a:ext cx="914400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12"/>
          <p:cNvSpPr/>
          <p:nvPr/>
        </p:nvSpPr>
        <p:spPr>
          <a:xfrm>
            <a:off x="411480" y="164592"/>
            <a:ext cx="731520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APLICAÇÕES DA IDENTIDADE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12"/>
          <p:cNvSpPr/>
          <p:nvPr/>
        </p:nvSpPr>
        <p:spPr>
          <a:xfrm>
            <a:off x="365760" y="877824"/>
            <a:ext cx="41148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CARTÃO DE VISITA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12"/>
          <p:cNvSpPr/>
          <p:nvPr/>
        </p:nvSpPr>
        <p:spPr>
          <a:xfrm>
            <a:off x="365760" y="1115568"/>
            <a:ext cx="3749040" cy="2084832"/>
          </a:xfrm>
          <a:prstGeom prst="rect">
            <a:avLst/>
          </a:prstGeom>
          <a:solidFill>
            <a:srgbClr val="0D0D0C"/>
          </a:solidFill>
          <a:ln>
            <a:noFill/>
          </a:ln>
          <a:effectLst>
            <a:outerShdw blurRad="101600" rotWithShape="0" algn="bl" dir="16200000" dist="38100">
              <a:srgbClr val="000000">
                <a:alpha val="18039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5" name="Google Shape;485;p12"/>
          <p:cNvSpPr/>
          <p:nvPr/>
        </p:nvSpPr>
        <p:spPr>
          <a:xfrm>
            <a:off x="365760" y="1115568"/>
            <a:ext cx="3749040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12"/>
          <p:cNvSpPr/>
          <p:nvPr/>
        </p:nvSpPr>
        <p:spPr>
          <a:xfrm>
            <a:off x="365760" y="3163824"/>
            <a:ext cx="3749040" cy="36576"/>
          </a:xfrm>
          <a:prstGeom prst="rect">
            <a:avLst/>
          </a:prstGeom>
          <a:solidFill>
            <a:srgbClr val="5B7A4A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p12"/>
          <p:cNvSpPr/>
          <p:nvPr/>
        </p:nvSpPr>
        <p:spPr>
          <a:xfrm>
            <a:off x="530352" y="12344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2200"/>
              <a:buFont typeface="Georgia"/>
              <a:buNone/>
            </a:pPr>
            <a:r>
              <a:rPr b="1" i="0" lang="en-US" sz="22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8" name="Google Shape;488;p12"/>
          <p:cNvSpPr/>
          <p:nvPr/>
        </p:nvSpPr>
        <p:spPr>
          <a:xfrm>
            <a:off x="530352" y="1645920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000"/>
              <a:buFont typeface="Georgia"/>
              <a:buNone/>
            </a:pPr>
            <a:r>
              <a:rPr b="0" i="0" lang="en-US" sz="10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9" name="Google Shape;489;p12"/>
          <p:cNvSpPr/>
          <p:nvPr/>
        </p:nvSpPr>
        <p:spPr>
          <a:xfrm>
            <a:off x="530352" y="1920240"/>
            <a:ext cx="329184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0" name="Google Shape;490;p12"/>
          <p:cNvSpPr/>
          <p:nvPr/>
        </p:nvSpPr>
        <p:spPr>
          <a:xfrm>
            <a:off x="530352" y="1993392"/>
            <a:ext cx="338328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100"/>
              <a:buFont typeface="Georgia"/>
              <a:buNone/>
            </a:pPr>
            <a:r>
              <a:rPr b="0" i="0" lang="en-US" sz="110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[Nome do Corretor]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1" name="Google Shape;491;p12"/>
          <p:cNvSpPr/>
          <p:nvPr/>
        </p:nvSpPr>
        <p:spPr>
          <a:xfrm>
            <a:off x="530352" y="2212848"/>
            <a:ext cx="338328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CRECI: 00.000-J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12"/>
          <p:cNvSpPr/>
          <p:nvPr/>
        </p:nvSpPr>
        <p:spPr>
          <a:xfrm>
            <a:off x="530352" y="2487168"/>
            <a:ext cx="3383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(31) 99955-8360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oliveiraimoveis.ia.br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@oliveiraimoveiis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12"/>
          <p:cNvSpPr/>
          <p:nvPr/>
        </p:nvSpPr>
        <p:spPr>
          <a:xfrm>
            <a:off x="4572000" y="877824"/>
            <a:ext cx="42976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ASSINATURA DE E-MAIL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12"/>
          <p:cNvSpPr/>
          <p:nvPr/>
        </p:nvSpPr>
        <p:spPr>
          <a:xfrm>
            <a:off x="4572000" y="1115568"/>
            <a:ext cx="4297680" cy="1938528"/>
          </a:xfrm>
          <a:prstGeom prst="rect">
            <a:avLst/>
          </a:prstGeom>
          <a:solidFill>
            <a:srgbClr val="FFFFFF"/>
          </a:solidFill>
          <a:ln cap="flat" cmpd="sng" w="9525">
            <a:solidFill>
              <a:srgbClr val="BCBAB4"/>
            </a:solidFill>
            <a:prstDash val="solid"/>
            <a:round/>
            <a:headEnd len="sm" w="sm" type="none"/>
            <a:tailEnd len="sm" w="sm" type="none"/>
          </a:ln>
          <a:effectLst>
            <a:outerShdw blurRad="63500" rotWithShape="0" algn="bl" dir="16200000" dist="254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12"/>
          <p:cNvSpPr/>
          <p:nvPr/>
        </p:nvSpPr>
        <p:spPr>
          <a:xfrm>
            <a:off x="4572000" y="1115568"/>
            <a:ext cx="36576" cy="1938528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12"/>
          <p:cNvSpPr/>
          <p:nvPr/>
        </p:nvSpPr>
        <p:spPr>
          <a:xfrm>
            <a:off x="4709160" y="1207008"/>
            <a:ext cx="40233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1300"/>
              <a:buFont typeface="Georgia"/>
              <a:buNone/>
            </a:pPr>
            <a:r>
              <a:rPr b="1" i="0" lang="en-US" sz="1300" u="none" cap="none" strike="noStrike">
                <a:solidFill>
                  <a:srgbClr val="5B7A4A"/>
                </a:solidFill>
                <a:latin typeface="Georgia"/>
                <a:ea typeface="Georgia"/>
                <a:cs typeface="Georgia"/>
                <a:sym typeface="Georgia"/>
              </a:rPr>
              <a:t>OLIVEIRA IMÓVEIS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12"/>
          <p:cNvSpPr/>
          <p:nvPr/>
        </p:nvSpPr>
        <p:spPr>
          <a:xfrm>
            <a:off x="4709160" y="1481328"/>
            <a:ext cx="402336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00"/>
              <a:buFont typeface="Arial"/>
              <a:buNone/>
            </a:pPr>
            <a:r>
              <a:rPr b="0" i="0" lang="en-US" sz="9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Empreendimentos LTDA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12"/>
          <p:cNvSpPr/>
          <p:nvPr/>
        </p:nvSpPr>
        <p:spPr>
          <a:xfrm>
            <a:off x="4709160" y="1719072"/>
            <a:ext cx="411480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12"/>
          <p:cNvSpPr/>
          <p:nvPr/>
        </p:nvSpPr>
        <p:spPr>
          <a:xfrm>
            <a:off x="4709160" y="1783080"/>
            <a:ext cx="402336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50"/>
              <a:buFont typeface="Arial"/>
              <a:buNone/>
            </a:pPr>
            <a:r>
              <a:rPr b="1" i="0" lang="en-US" sz="105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[Nome] · [Cargo]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12"/>
          <p:cNvSpPr/>
          <p:nvPr/>
        </p:nvSpPr>
        <p:spPr>
          <a:xfrm>
            <a:off x="4709160" y="2048256"/>
            <a:ext cx="402336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(31) 99955-8360  ·  oliveiraimoveis.ia.br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Av. Amazonas 2086, Barro Preto, BH – MG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850"/>
              <a:buFont typeface="Arial"/>
              <a:buNone/>
            </a:pPr>
            <a:r>
              <a:rPr b="0" i="0" lang="en-US" sz="8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Instagram: @oliveiraimoveiis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12"/>
          <p:cNvSpPr/>
          <p:nvPr/>
        </p:nvSpPr>
        <p:spPr>
          <a:xfrm>
            <a:off x="365760" y="3310128"/>
            <a:ext cx="8412480" cy="36576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2" name="Google Shape;502;p12"/>
          <p:cNvSpPr/>
          <p:nvPr/>
        </p:nvSpPr>
        <p:spPr>
          <a:xfrm>
            <a:off x="365760" y="3401568"/>
            <a:ext cx="45720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5B7A4A"/>
              </a:buClr>
              <a:buSzPts val="850"/>
              <a:buFont typeface="Arial"/>
              <a:buNone/>
            </a:pPr>
            <a:r>
              <a:rPr b="1" i="0" lang="en-US" sz="850" u="none" cap="none" strike="noStrike">
                <a:solidFill>
                  <a:srgbClr val="5B7A4A"/>
                </a:solidFill>
                <a:latin typeface="Arial"/>
                <a:ea typeface="Arial"/>
                <a:cs typeface="Arial"/>
                <a:sym typeface="Arial"/>
              </a:rPr>
              <a:t>FORMATOS DE MATERIAL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12"/>
          <p:cNvSpPr/>
          <p:nvPr/>
        </p:nvSpPr>
        <p:spPr>
          <a:xfrm>
            <a:off x="365760" y="36393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🏠  Placa de imóvel 60×40cm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12"/>
          <p:cNvSpPr/>
          <p:nvPr/>
        </p:nvSpPr>
        <p:spPr>
          <a:xfrm>
            <a:off x="4572000" y="3639312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📱  Artes de redes sociais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12"/>
          <p:cNvSpPr/>
          <p:nvPr/>
        </p:nvSpPr>
        <p:spPr>
          <a:xfrm>
            <a:off x="365760" y="40233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📄  Proposta comercial A4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12"/>
          <p:cNvSpPr/>
          <p:nvPr/>
        </p:nvSpPr>
        <p:spPr>
          <a:xfrm>
            <a:off x="4572000" y="4023360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🎬  Vídeos e reels branded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12"/>
          <p:cNvSpPr/>
          <p:nvPr/>
        </p:nvSpPr>
        <p:spPr>
          <a:xfrm>
            <a:off x="365760" y="440740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📧  Newsletter HTML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12"/>
          <p:cNvSpPr/>
          <p:nvPr/>
        </p:nvSpPr>
        <p:spPr>
          <a:xfrm>
            <a:off x="4572000" y="4407408"/>
            <a:ext cx="402336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D2D2A"/>
              </a:buClr>
              <a:buSzPts val="1000"/>
              <a:buFont typeface="Arial"/>
              <a:buNone/>
            </a:pPr>
            <a:r>
              <a:rPr b="0" i="0" lang="en-US" sz="1000" u="none" cap="none" strike="noStrike">
                <a:solidFill>
                  <a:srgbClr val="2D2D2A"/>
                </a:solidFill>
                <a:latin typeface="Arial"/>
                <a:ea typeface="Arial"/>
                <a:cs typeface="Arial"/>
                <a:sym typeface="Arial"/>
              </a:rPr>
              <a:t>🗺  Banner de fachada de loja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13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p13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3D5A3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6" name="Google Shape;516;p13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p1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p13"/>
          <p:cNvSpPr/>
          <p:nvPr/>
        </p:nvSpPr>
        <p:spPr>
          <a:xfrm>
            <a:off x="256032" y="868680"/>
            <a:ext cx="2834640" cy="713232"/>
          </a:xfrm>
          <a:prstGeom prst="rect">
            <a:avLst/>
          </a:prstGeom>
          <a:noFill/>
          <a:ln>
            <a:noFill/>
          </a:ln>
          <a:effectLst>
            <a:outerShdw blurRad="76200" rotWithShape="0" algn="bl" dir="16200000" dist="25400">
              <a:srgbClr val="C9A84C">
                <a:alpha val="2196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9A84C"/>
              </a:buClr>
              <a:buSzPts val="3800"/>
              <a:buFont typeface="Georgia"/>
              <a:buNone/>
            </a:pPr>
            <a:r>
              <a:rPr b="1" i="0" lang="en-US" sz="3800" u="none" cap="none" strike="noStrike">
                <a:solidFill>
                  <a:srgbClr val="C9A84C"/>
                </a:solidFill>
                <a:latin typeface="Georgia"/>
                <a:ea typeface="Georgia"/>
                <a:cs typeface="Georgia"/>
                <a:sym typeface="Georgia"/>
              </a:rPr>
              <a:t>OLIVEIRA</a:t>
            </a:r>
            <a:endParaRPr b="0" i="0" sz="3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p13"/>
          <p:cNvSpPr/>
          <p:nvPr/>
        </p:nvSpPr>
        <p:spPr>
          <a:xfrm>
            <a:off x="256032" y="1719072"/>
            <a:ext cx="64008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13"/>
          <p:cNvSpPr/>
          <p:nvPr/>
        </p:nvSpPr>
        <p:spPr>
          <a:xfrm>
            <a:off x="2331720" y="1719072"/>
            <a:ext cx="64008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13"/>
          <p:cNvSpPr/>
          <p:nvPr/>
        </p:nvSpPr>
        <p:spPr>
          <a:xfrm>
            <a:off x="256032" y="1581912"/>
            <a:ext cx="2834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1600"/>
              <a:buFont typeface="Georgia"/>
              <a:buNone/>
            </a:pPr>
            <a:r>
              <a:rPr b="0" i="0" lang="en-US" sz="1600" u="none" cap="none" strike="noStrike">
                <a:solidFill>
                  <a:srgbClr val="E2C97A"/>
                </a:solidFill>
                <a:latin typeface="Georgia"/>
                <a:ea typeface="Georgia"/>
                <a:cs typeface="Georgia"/>
                <a:sym typeface="Georgia"/>
              </a:rPr>
              <a:t>IMÓVEIS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2" name="Google Shape;522;p13"/>
          <p:cNvSpPr/>
          <p:nvPr/>
        </p:nvSpPr>
        <p:spPr>
          <a:xfrm>
            <a:off x="256032" y="1883664"/>
            <a:ext cx="28346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BCBAB4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BCBAB4"/>
                </a:solidFill>
                <a:latin typeface="Arial"/>
                <a:ea typeface="Arial"/>
                <a:cs typeface="Arial"/>
                <a:sym typeface="Arial"/>
              </a:rPr>
              <a:t>EMPREENDIMENTOS LTDA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3" name="Google Shape;523;p13"/>
          <p:cNvSpPr/>
          <p:nvPr/>
        </p:nvSpPr>
        <p:spPr>
          <a:xfrm>
            <a:off x="256032" y="2267712"/>
            <a:ext cx="242316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13"/>
          <p:cNvSpPr/>
          <p:nvPr/>
        </p:nvSpPr>
        <p:spPr>
          <a:xfrm>
            <a:off x="256032" y="2395728"/>
            <a:ext cx="283464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A5C49A"/>
                </a:solidFill>
                <a:latin typeface="Georgia"/>
                <a:ea typeface="Georgia"/>
                <a:cs typeface="Georgia"/>
                <a:sym typeface="Georgia"/>
              </a:rPr>
              <a:t>Ecossistemas Comerciais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200"/>
              <a:buFont typeface="Georgia"/>
              <a:buNone/>
            </a:pPr>
            <a:r>
              <a:rPr b="0" i="1" lang="en-US" sz="1200" u="none" cap="none" strike="noStrike">
                <a:solidFill>
                  <a:srgbClr val="A5C49A"/>
                </a:solidFill>
                <a:latin typeface="Georgia"/>
                <a:ea typeface="Georgia"/>
                <a:cs typeface="Georgia"/>
                <a:sym typeface="Georgia"/>
              </a:rPr>
              <a:t>Estratégicos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13"/>
          <p:cNvSpPr/>
          <p:nvPr/>
        </p:nvSpPr>
        <p:spPr>
          <a:xfrm>
            <a:off x="256032" y="3200400"/>
            <a:ext cx="2834640" cy="6583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Mais do que anunciar imóveis,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950"/>
              <a:buFont typeface="Arial"/>
              <a:buNone/>
            </a:pPr>
            <a:r>
              <a:rPr b="0" i="1" lang="en-US" sz="95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estruturamos ativos para gerar resultado.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6" name="Google Shape;526;p13"/>
          <p:cNvSpPr/>
          <p:nvPr/>
        </p:nvSpPr>
        <p:spPr>
          <a:xfrm>
            <a:off x="3703320" y="685800"/>
            <a:ext cx="5120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5C49A"/>
              </a:buClr>
              <a:buSzPts val="1000"/>
              <a:buFont typeface="Arial"/>
              <a:buNone/>
            </a:pPr>
            <a:r>
              <a:rPr b="1" i="0" lang="en-US" sz="1000" u="none" cap="none" strike="noStrike">
                <a:solidFill>
                  <a:srgbClr val="A5C49A"/>
                </a:solidFill>
                <a:latin typeface="Arial"/>
                <a:ea typeface="Arial"/>
                <a:cs typeface="Arial"/>
                <a:sym typeface="Arial"/>
              </a:rPr>
              <a:t>FALE CONOSCO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13"/>
          <p:cNvSpPr/>
          <p:nvPr/>
        </p:nvSpPr>
        <p:spPr>
          <a:xfrm>
            <a:off x="3703320" y="1005840"/>
            <a:ext cx="5120640" cy="16459"/>
          </a:xfrm>
          <a:prstGeom prst="rect">
            <a:avLst/>
          </a:prstGeom>
          <a:solidFill>
            <a:srgbClr val="7A9E6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8" name="Google Shape;528;p13"/>
          <p:cNvSpPr/>
          <p:nvPr/>
        </p:nvSpPr>
        <p:spPr>
          <a:xfrm>
            <a:off x="3703320" y="111556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☎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13"/>
          <p:cNvSpPr/>
          <p:nvPr/>
        </p:nvSpPr>
        <p:spPr>
          <a:xfrm>
            <a:off x="4114800" y="1115568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Telefone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13"/>
          <p:cNvSpPr/>
          <p:nvPr/>
        </p:nvSpPr>
        <p:spPr>
          <a:xfrm>
            <a:off x="4114800" y="131673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(31) 99955-8360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13"/>
          <p:cNvSpPr/>
          <p:nvPr/>
        </p:nvSpPr>
        <p:spPr>
          <a:xfrm>
            <a:off x="3703320" y="170992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📍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13"/>
          <p:cNvSpPr/>
          <p:nvPr/>
        </p:nvSpPr>
        <p:spPr>
          <a:xfrm>
            <a:off x="4114800" y="1709928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Endereço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13"/>
          <p:cNvSpPr/>
          <p:nvPr/>
        </p:nvSpPr>
        <p:spPr>
          <a:xfrm>
            <a:off x="4114800" y="191109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Av. Amazonas 2086, Barro Preto, BH – MG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13"/>
          <p:cNvSpPr/>
          <p:nvPr/>
        </p:nvSpPr>
        <p:spPr>
          <a:xfrm>
            <a:off x="3703320" y="230428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🌐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13"/>
          <p:cNvSpPr/>
          <p:nvPr/>
        </p:nvSpPr>
        <p:spPr>
          <a:xfrm>
            <a:off x="4114800" y="2304288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Site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13"/>
          <p:cNvSpPr/>
          <p:nvPr/>
        </p:nvSpPr>
        <p:spPr>
          <a:xfrm>
            <a:off x="4114800" y="250545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oliveiraimoveis.ia.br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13"/>
          <p:cNvSpPr/>
          <p:nvPr/>
        </p:nvSpPr>
        <p:spPr>
          <a:xfrm>
            <a:off x="3703320" y="289864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📸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8" name="Google Shape;538;p13"/>
          <p:cNvSpPr/>
          <p:nvPr/>
        </p:nvSpPr>
        <p:spPr>
          <a:xfrm>
            <a:off x="4114800" y="2898648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Instagram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9" name="Google Shape;539;p13"/>
          <p:cNvSpPr/>
          <p:nvPr/>
        </p:nvSpPr>
        <p:spPr>
          <a:xfrm>
            <a:off x="4114800" y="309981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@oliveiraimoveiis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13"/>
          <p:cNvSpPr/>
          <p:nvPr/>
        </p:nvSpPr>
        <p:spPr>
          <a:xfrm>
            <a:off x="3703320" y="3493008"/>
            <a:ext cx="3657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✉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13"/>
          <p:cNvSpPr/>
          <p:nvPr/>
        </p:nvSpPr>
        <p:spPr>
          <a:xfrm>
            <a:off x="4114800" y="3493008"/>
            <a:ext cx="47548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C97A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rgbClr val="E2C97A"/>
                </a:solidFill>
                <a:latin typeface="Arial"/>
                <a:ea typeface="Arial"/>
                <a:cs typeface="Arial"/>
                <a:sym typeface="Arial"/>
              </a:rPr>
              <a:t>E-mail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13"/>
          <p:cNvSpPr/>
          <p:nvPr/>
        </p:nvSpPr>
        <p:spPr>
          <a:xfrm>
            <a:off x="4114800" y="3694176"/>
            <a:ext cx="47548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5F2EC"/>
              </a:buClr>
              <a:buSzPts val="1250"/>
              <a:buFont typeface="Georgia"/>
              <a:buNone/>
            </a:pPr>
            <a:r>
              <a:rPr b="0" i="0" lang="en-US" sz="1250" u="none" cap="none" strike="noStrike">
                <a:solidFill>
                  <a:srgbClr val="F5F2EC"/>
                </a:solidFill>
                <a:latin typeface="Georgia"/>
                <a:ea typeface="Georgia"/>
                <a:cs typeface="Georgia"/>
                <a:sym typeface="Georgia"/>
              </a:rPr>
              <a:t>contato@oliveiraimoveis.ia.br</a:t>
            </a:r>
            <a:endParaRPr b="0" i="0" sz="12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13"/>
          <p:cNvSpPr/>
          <p:nvPr/>
        </p:nvSpPr>
        <p:spPr>
          <a:xfrm>
            <a:off x="3703320" y="4462272"/>
            <a:ext cx="5120640" cy="16459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4" name="Google Shape;544;p13"/>
          <p:cNvSpPr/>
          <p:nvPr/>
        </p:nvSpPr>
        <p:spPr>
          <a:xfrm>
            <a:off x="3703320" y="4526280"/>
            <a:ext cx="512064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8A8278"/>
              </a:buClr>
              <a:buSzPts val="700"/>
              <a:buFont typeface="Arial"/>
              <a:buNone/>
            </a:pPr>
            <a:r>
              <a:rPr b="0" i="0" lang="en-US" sz="700" u="none" cap="none" strike="noStrike">
                <a:solidFill>
                  <a:srgbClr val="8A8278"/>
                </a:solidFill>
                <a:latin typeface="Arial"/>
                <a:ea typeface="Arial"/>
                <a:cs typeface="Arial"/>
                <a:sym typeface="Arial"/>
              </a:rPr>
              <a:t>Este documento é propriedade de Oliveira Imóveis Empreendimentos LTDA  ·  Identidade Visual 2026</a:t>
            </a:r>
            <a:endParaRPr b="0" i="0" sz="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2026-06-14T01:35:02Z</dcterms:created>
  <dc:creator>PptxGenJS</dc:creator>
</cp:coreProperties>
</file>