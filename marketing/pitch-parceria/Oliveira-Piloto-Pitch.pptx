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-2377440"/>
            <a:ext cx="7772400" cy="7772400"/>
          </a:xfrm>
          <a:prstGeom prst="ellipse">
            <a:avLst/>
          </a:prstGeom>
          <a:solidFill>
            <a:srgbClr val="1C3D28"/>
          </a:solidFill>
          <a:ln/>
        </p:spPr>
      </p:sp>
      <p:sp>
        <p:nvSpPr>
          <p:cNvPr id="4" name="Shape 2"/>
          <p:cNvSpPr/>
          <p:nvPr/>
        </p:nvSpPr>
        <p:spPr>
          <a:xfrm>
            <a:off x="9189720" y="1417320"/>
            <a:ext cx="2788920" cy="2788920"/>
          </a:xfrm>
          <a:prstGeom prst="ellipse">
            <a:avLst/>
          </a:prstGeom>
          <a:solidFill>
            <a:srgbClr val="C6A04E"/>
          </a:solidFill>
          <a:ln/>
        </p:spPr>
      </p:sp>
      <p:pic>
        <p:nvPicPr>
          <p:cNvPr id="5" name="Image 0" descr="logos/L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2872" y="1490472"/>
            <a:ext cx="2651760" cy="265176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OLIVEIRA </a:t>
            </a:r>
            <a:pPr indent="0" marL="0">
              <a:buNone/>
            </a:pPr>
            <a:r>
              <a:rPr lang="en-US" sz="2400" b="1" spc="100" kern="0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IMÓVEIS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5528" y="14813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ESPECIALISTAS EM IMÓVEIS COMERCIAIS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5528" y="1965960"/>
            <a:ext cx="2926080" cy="0"/>
          </a:xfrm>
          <a:prstGeom prst="line">
            <a:avLst/>
          </a:prstGeom>
          <a:noFill/>
          <a:ln w="15240">
            <a:solidFill>
              <a:srgbClr val="C6A04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" y="22402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estratégico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 pesquisa de mercado</a:t>
            </a:r>
            <a:endParaRPr lang="en-US" sz="3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imóveis comerciais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777240" y="45262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piloto — convite para 3 imobiliárias co-criarem o MVP na prática.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777240" y="5349240"/>
            <a:ext cx="4206240" cy="566928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53492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limitadas · 1 por região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166360" y="5440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0B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“O lugar certo transforma tudo.”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HOJE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Imóvel comercial parado é prejuízo todo mês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77240" y="2286000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86000"/>
            <a:ext cx="82296" cy="324612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5603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73405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3337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encalha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51560" y="3730752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Loja/sala fica meses vaga. Cada mês vazio é aluguel que não entra — para o proprietário e para a imobiliária.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11880" y="2286000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11880" y="2286000"/>
            <a:ext cx="82296" cy="324612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2" name="Shape 9"/>
          <p:cNvSpPr/>
          <p:nvPr/>
        </p:nvSpPr>
        <p:spPr>
          <a:xfrm>
            <a:off x="3886200" y="25603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273405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86200" y="3337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Anúncio sem match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886200" y="3730752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 para todo mundo, sem saber qual negócio combina com o ponto. Atrai curioso, não o cliente certo.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46520" y="2286000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46520" y="2286000"/>
            <a:ext cx="82296" cy="324612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8" name="Shape 14"/>
          <p:cNvSpPr/>
          <p:nvPr/>
        </p:nvSpPr>
        <p:spPr>
          <a:xfrm>
            <a:off x="6720840" y="25603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734056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20840" y="3337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genérico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720840" y="3730752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pago sem estratégia nem medição. Não dá pra saber qual anúncio trouxe o lead que fechou.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9281160" y="2286000"/>
            <a:ext cx="2670048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281160" y="2286000"/>
            <a:ext cx="82296" cy="324612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24" name="Shape 19"/>
          <p:cNvSpPr/>
          <p:nvPr/>
        </p:nvSpPr>
        <p:spPr>
          <a:xfrm>
            <a:off x="9555480" y="25603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2734056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555480" y="33375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inseguro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555480" y="3730752"/>
            <a:ext cx="216712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Empreendedor tem medo de errar o ponto. Sem dados, ele trava — e não fecha.</a:t>
            </a:r>
            <a:endParaRPr lang="en-US" sz="1200" dirty="0"/>
          </a:p>
        </p:txBody>
      </p:sp>
      <p:pic>
        <p:nvPicPr>
          <p:cNvPr id="28" name="Image 4" descr="logos/seal_sm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1027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OLIVEIRA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somos uma software house. Somos uma imobiliária — como você.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420624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Construímos essa tecnologia para a nossa própria operação. Já funciona. Agora abrimos para parceiras.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74920" y="1097280"/>
            <a:ext cx="868680" cy="868680"/>
          </a:xfrm>
          <a:prstGeom prst="ellipse">
            <a:avLst/>
          </a:prstGeom>
          <a:solidFill>
            <a:srgbClr val="CFDAC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94376" y="1316736"/>
            <a:ext cx="429768" cy="4297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72200" y="1051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já em operação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172200" y="152704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Atendimento, captação e pesquisa de ponto rodando na Oliveira hoje.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74920" y="2724912"/>
            <a:ext cx="868680" cy="868680"/>
          </a:xfrm>
          <a:prstGeom prst="ellipse">
            <a:avLst/>
          </a:prstGeom>
          <a:solidFill>
            <a:srgbClr val="CFDAC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2944368"/>
            <a:ext cx="429768" cy="4297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72200" y="267919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próprio de baixo custo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172200" y="315468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enxuta: roda por dezenas de reais/mês, não milhares.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074920" y="4352544"/>
            <a:ext cx="868680" cy="868680"/>
          </a:xfrm>
          <a:prstGeom prst="ellipse">
            <a:avLst/>
          </a:prstGeom>
          <a:solidFill>
            <a:srgbClr val="CFDAC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376" y="4572000"/>
            <a:ext cx="429768" cy="4297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43068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no comercial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172200" y="4782312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em locação e análise de ponto — o que os CRMs genéricos não fazem.</a:t>
            </a:r>
            <a:endParaRPr lang="en-US" sz="1350" dirty="0"/>
          </a:p>
        </p:txBody>
      </p:sp>
      <p:pic>
        <p:nvPicPr>
          <p:cNvPr id="19" name="Image 3" descr="logos/seal_sm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DIFERENCIAL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 de mercado vira cliente — e indicação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373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ao seu cliente uma pesquisa do ponto antes de fechar. Ele decide com dados, não no escuro — e isso muda tudo.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1371600" y="3703320"/>
            <a:ext cx="9509760" cy="0"/>
          </a:xfrm>
          <a:prstGeom prst="line">
            <a:avLst/>
          </a:prstGeom>
          <a:noFill/>
          <a:ln w="25400">
            <a:solidFill>
              <a:srgbClr val="C6A04E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868680" y="3200400"/>
            <a:ext cx="1005840" cy="1005840"/>
          </a:xfrm>
          <a:prstGeom prst="ellipse">
            <a:avLst/>
          </a:prstGeom>
          <a:solidFill>
            <a:srgbClr val="10271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2144" y="348386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74320" y="4736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do ponto + match ideal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3200400"/>
            <a:ext cx="1005840" cy="1005840"/>
          </a:xfrm>
          <a:prstGeom prst="ellipse">
            <a:avLst/>
          </a:prstGeom>
          <a:solidFill>
            <a:srgbClr val="C6A04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34838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8892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74320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651760" y="4736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decide com dados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623560" y="3200400"/>
            <a:ext cx="1005840" cy="1005840"/>
          </a:xfrm>
          <a:prstGeom prst="ellipse">
            <a:avLst/>
          </a:prstGeom>
          <a:solidFill>
            <a:srgbClr val="10271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3483864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1206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certo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029200" y="4736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Negócio certo no ponto certo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01000" y="3200400"/>
            <a:ext cx="1005840" cy="1005840"/>
          </a:xfrm>
          <a:prstGeom prst="ellipse">
            <a:avLst/>
          </a:prstGeom>
          <a:solidFill>
            <a:srgbClr val="C6A04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4464" y="3483864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4380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49808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clientes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7406640" y="4736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mais, fica mais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0378440" y="3200400"/>
            <a:ext cx="1005840" cy="1005840"/>
          </a:xfrm>
          <a:prstGeom prst="ellipse">
            <a:avLst/>
          </a:prstGeom>
          <a:solidFill>
            <a:srgbClr val="10271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3483864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21240" y="2633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987552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9784080" y="4736592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Boca a boca fortalece a marca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77240" y="5532120"/>
            <a:ext cx="10634472" cy="566928"/>
          </a:xfrm>
          <a:prstGeom prst="rect">
            <a:avLst/>
          </a:prstGeom>
          <a:solidFill>
            <a:srgbClr val="10271A"/>
          </a:solidFill>
          <a:ln/>
        </p:spPr>
      </p:sp>
      <p:sp>
        <p:nvSpPr>
          <p:cNvPr id="32" name="Text 25"/>
          <p:cNvSpPr/>
          <p:nvPr/>
        </p:nvSpPr>
        <p:spPr>
          <a:xfrm>
            <a:off x="777240" y="5532120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certo = cliente de sucesso = indicação = sua imobiliária mais forte no mercado.</a:t>
            </a:r>
            <a:endParaRPr lang="en-US" sz="1400" dirty="0"/>
          </a:p>
        </p:txBody>
      </p:sp>
      <p:pic>
        <p:nvPicPr>
          <p:cNvPr id="33" name="Image 5" descr="logos/seal_sm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piloto para construir o MVP — junto com você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Selecionamos 3 imobiliárias para usar a plataforma na prática enquanto a desenvolvemos. Você ajuda a moldar o produto e sai na frente do mercado.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7432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43200"/>
            <a:ext cx="82296" cy="31089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30175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19125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7947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imobiliárias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51560" y="4187952"/>
            <a:ext cx="216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pequeno e selecionado, com atenção dedicada da nossa equipe.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27432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743200"/>
            <a:ext cx="82296" cy="31089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3" name="Shape 10"/>
          <p:cNvSpPr/>
          <p:nvPr/>
        </p:nvSpPr>
        <p:spPr>
          <a:xfrm>
            <a:off x="3886200" y="30175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319125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37947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real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886200" y="4187952"/>
            <a:ext cx="216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opera com clientes de verdade, não em ambiente de teste.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46520" y="27432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2743200"/>
            <a:ext cx="82296" cy="31089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9" name="Shape 15"/>
          <p:cNvSpPr/>
          <p:nvPr/>
        </p:nvSpPr>
        <p:spPr>
          <a:xfrm>
            <a:off x="6720840" y="30175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319125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37947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voz no produto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720840" y="4187952"/>
            <a:ext cx="216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funcionalidade nasce do que VOCÊ pede e precisa no dia a dia.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281160" y="2743200"/>
            <a:ext cx="2670048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81160" y="2743200"/>
            <a:ext cx="82296" cy="31089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25" name="Shape 20"/>
          <p:cNvSpPr/>
          <p:nvPr/>
        </p:nvSpPr>
        <p:spPr>
          <a:xfrm>
            <a:off x="9555480" y="301752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3191256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55480" y="379476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Vantagem de pioneiro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555480" y="4187952"/>
            <a:ext cx="21671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na frente usando IA enquanto o concorrente ainda faz tudo na mão.</a:t>
            </a:r>
            <a:endParaRPr lang="en-US" sz="1200" dirty="0"/>
          </a:p>
        </p:txBody>
      </p:sp>
      <p:pic>
        <p:nvPicPr>
          <p:cNvPr id="29" name="Image 4" descr="logos/seal_sm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PRODUTO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MVP: duas frentes para imóveis comerciais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5564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total: pesquisa de mercado do ponto + marketing estratégico que faz o match certo. Uma alimenta a outra.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2514600"/>
            <a:ext cx="5074920" cy="3383280"/>
          </a:xfrm>
          <a:prstGeom prst="rect">
            <a:avLst/>
          </a:prstGeom>
          <a:solidFill>
            <a:srgbClr val="F5F1E6"/>
          </a:solidFill>
          <a:ln w="12700">
            <a:solidFill>
              <a:srgbClr val="E0DC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514600"/>
            <a:ext cx="5074920" cy="109728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" y="2898648"/>
            <a:ext cx="868680" cy="868680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744" y="3136392"/>
            <a:ext cx="393192" cy="3931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40280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240280" y="32278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Pesquisa de mercado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188720" y="4114800"/>
            <a:ext cx="4251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40 modalidades no entorno (validado no Google Maps)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Demografia, renda e potencial do bairro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Tese do match certo + personas-alvo do ponto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Entregue com a marca da imobiliária (white-label)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336792" y="2514600"/>
            <a:ext cx="5074920" cy="3383280"/>
          </a:xfrm>
          <a:prstGeom prst="rect">
            <a:avLst/>
          </a:prstGeom>
          <a:solidFill>
            <a:srgbClr val="F5F1E6"/>
          </a:solidFill>
          <a:ln w="12700">
            <a:solidFill>
              <a:srgbClr val="E0DCC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336792" y="2514600"/>
            <a:ext cx="5074920" cy="109728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4" name="Shape 11"/>
          <p:cNvSpPr/>
          <p:nvPr/>
        </p:nvSpPr>
        <p:spPr>
          <a:xfrm>
            <a:off x="6702552" y="2898648"/>
            <a:ext cx="868680" cy="868680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0296" y="3136392"/>
            <a:ext cx="393192" cy="39319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799832" y="297180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PILAR 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99832" y="322783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 estratégico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748272" y="4114800"/>
            <a:ext cx="42519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por funil C1/C2/C3 para o ponto comercial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Hooks, copy e criativos focados no público certo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Captação de lojistas e proprietários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que medem — inclusive tempo em cada criativo</a:t>
            </a:r>
            <a:endParaRPr lang="en-US" sz="1250" dirty="0"/>
          </a:p>
        </p:txBody>
      </p:sp>
      <p:pic>
        <p:nvPicPr>
          <p:cNvPr id="19" name="Image 2" descr="logos/seal_sm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48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SUA VANTAGEM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49808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você ganha como piloto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2670048" cy="3383280"/>
          </a:xfrm>
          <a:prstGeom prst="rect">
            <a:avLst/>
          </a:prstGeom>
          <a:solidFill>
            <a:srgbClr val="1C3D28"/>
          </a:solidFill>
          <a:ln w="12700">
            <a:solidFill>
              <a:srgbClr val="1C3D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194560"/>
            <a:ext cx="82296" cy="33832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468880"/>
            <a:ext cx="658368" cy="658368"/>
          </a:xfrm>
          <a:prstGeom prst="ellipse">
            <a:avLst/>
          </a:prstGeom>
          <a:solidFill>
            <a:srgbClr val="C6A0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6426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246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gratuito no piloto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51560" y="3639312"/>
            <a:ext cx="216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plataforma sem custo durante todo o período de testes.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11880" y="2194560"/>
            <a:ext cx="2670048" cy="3383280"/>
          </a:xfrm>
          <a:prstGeom prst="rect">
            <a:avLst/>
          </a:prstGeom>
          <a:solidFill>
            <a:srgbClr val="1C3D28"/>
          </a:solidFill>
          <a:ln w="12700">
            <a:solidFill>
              <a:srgbClr val="1C3D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11880" y="2194560"/>
            <a:ext cx="82296" cy="33832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3" name="Shape 10"/>
          <p:cNvSpPr/>
          <p:nvPr/>
        </p:nvSpPr>
        <p:spPr>
          <a:xfrm>
            <a:off x="3886200" y="2468880"/>
            <a:ext cx="658368" cy="658368"/>
          </a:xfrm>
          <a:prstGeom prst="ellipse">
            <a:avLst/>
          </a:prstGeom>
          <a:solidFill>
            <a:srgbClr val="C6A04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9936" y="264261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86200" y="3246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de fundador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3886200" y="3639312"/>
            <a:ext cx="216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especial e travada quando o produto for lançado ao mercado.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46520" y="2194560"/>
            <a:ext cx="2670048" cy="3383280"/>
          </a:xfrm>
          <a:prstGeom prst="rect">
            <a:avLst/>
          </a:prstGeom>
          <a:solidFill>
            <a:srgbClr val="1C3D28"/>
          </a:solidFill>
          <a:ln w="12700">
            <a:solidFill>
              <a:srgbClr val="1C3D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46520" y="2194560"/>
            <a:ext cx="82296" cy="33832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9" name="Shape 15"/>
          <p:cNvSpPr/>
          <p:nvPr/>
        </p:nvSpPr>
        <p:spPr>
          <a:xfrm>
            <a:off x="6720840" y="2468880"/>
            <a:ext cx="658368" cy="658368"/>
          </a:xfrm>
          <a:prstGeom prst="ellipse">
            <a:avLst/>
          </a:prstGeom>
          <a:solidFill>
            <a:srgbClr val="C6A04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76" y="264261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720840" y="3246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total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720840" y="3639312"/>
            <a:ext cx="216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Suas solicitações entram na frente. O produto é moldado para você.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281160" y="2194560"/>
            <a:ext cx="2670048" cy="3383280"/>
          </a:xfrm>
          <a:prstGeom prst="rect">
            <a:avLst/>
          </a:prstGeom>
          <a:solidFill>
            <a:srgbClr val="1C3D28"/>
          </a:solidFill>
          <a:ln w="12700">
            <a:solidFill>
              <a:srgbClr val="1C3D2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281160" y="2194560"/>
            <a:ext cx="82296" cy="33832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25" name="Shape 20"/>
          <p:cNvSpPr/>
          <p:nvPr/>
        </p:nvSpPr>
        <p:spPr>
          <a:xfrm>
            <a:off x="9555480" y="2468880"/>
            <a:ext cx="658368" cy="658368"/>
          </a:xfrm>
          <a:prstGeom prst="ellipse">
            <a:avLst/>
          </a:prstGeom>
          <a:solidFill>
            <a:srgbClr val="C6A04E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16" y="2642616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55480" y="3246120"/>
            <a:ext cx="2167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sucesso</a:t>
            </a:r>
            <a:endParaRPr lang="en-US" sz="1550" dirty="0"/>
          </a:p>
        </p:txBody>
      </p:sp>
      <p:sp>
        <p:nvSpPr>
          <p:cNvPr id="28" name="Text 22"/>
          <p:cNvSpPr/>
          <p:nvPr/>
        </p:nvSpPr>
        <p:spPr>
          <a:xfrm>
            <a:off x="9555480" y="3639312"/>
            <a:ext cx="216712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como imobiliária pioneira em IA na sua região.</a:t>
            </a:r>
            <a:endParaRPr lang="en-US" sz="1200" dirty="0"/>
          </a:p>
        </p:txBody>
      </p:sp>
      <p:pic>
        <p:nvPicPr>
          <p:cNvPr id="29" name="Image 4" descr="logos/seal_sm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esperamos de você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de mensalidade no piloto. Pedimos apenas parceria de verdade: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360273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82296" cy="26974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88036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05409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36576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 verdade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51560" y="40507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Colocar a plataforma na rotina e com clientes reais.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62856" y="2606040"/>
            <a:ext cx="360273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2856" y="2606040"/>
            <a:ext cx="82296" cy="26974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3" name="Shape 10"/>
          <p:cNvSpPr/>
          <p:nvPr/>
        </p:nvSpPr>
        <p:spPr>
          <a:xfrm>
            <a:off x="4837176" y="288036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3054096"/>
            <a:ext cx="310896" cy="3108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37176" y="36576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feedback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837176" y="40507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Contar o que funciona, o que falta e o que atrapalha.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348472" y="2606040"/>
            <a:ext cx="360273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348472" y="2606040"/>
            <a:ext cx="82296" cy="269748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9" name="Shape 15"/>
          <p:cNvSpPr/>
          <p:nvPr/>
        </p:nvSpPr>
        <p:spPr>
          <a:xfrm>
            <a:off x="8622792" y="288036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3054096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22792" y="365760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ao final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622792" y="4050792"/>
            <a:ext cx="30998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gostar, compartilhar o resultado para outras imobiliárias.</a:t>
            </a:r>
            <a:endParaRPr lang="en-US" sz="1200" dirty="0"/>
          </a:p>
        </p:txBody>
      </p:sp>
      <p:pic>
        <p:nvPicPr>
          <p:cNvPr id="23" name="Image 3" descr="logos/seal_sm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49808" y="91440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convite ao resultado em ~90 dias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63040" y="3657600"/>
            <a:ext cx="8366760" cy="0"/>
          </a:xfrm>
          <a:prstGeom prst="line">
            <a:avLst/>
          </a:prstGeom>
          <a:noFill/>
          <a:ln w="25400">
            <a:solidFill>
              <a:srgbClr val="C6A04E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914400" y="3108960"/>
            <a:ext cx="1097280" cy="1097280"/>
          </a:xfrm>
          <a:prstGeom prst="ellipse">
            <a:avLst/>
          </a:prstGeom>
          <a:solidFill>
            <a:srgbClr val="10271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3419856"/>
            <a:ext cx="475488" cy="4754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28600" y="4736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Reunião, configuração da sua marca, imóveis e WhatsApp.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703320" y="3108960"/>
            <a:ext cx="1097280" cy="1097280"/>
          </a:xfrm>
          <a:prstGeom prst="ellipse">
            <a:avLst/>
          </a:prstGeom>
          <a:solidFill>
            <a:srgbClr val="C6A04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216" y="341985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1–2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15468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017520" y="4736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publicado e IA de atendimento ativa para seus clientes.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92240" y="3108960"/>
            <a:ext cx="1097280" cy="1097280"/>
          </a:xfrm>
          <a:prstGeom prst="ellipse">
            <a:avLst/>
          </a:prstGeom>
          <a:solidFill>
            <a:srgbClr val="10271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3419856"/>
            <a:ext cx="475488" cy="4754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2–10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94360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+ ajustes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806440" y="4736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opera, a gente acompanha e melhora a cada semana.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281160" y="3108960"/>
            <a:ext cx="1097280" cy="1097280"/>
          </a:xfrm>
          <a:prstGeom prst="ellipse">
            <a:avLst/>
          </a:prstGeom>
          <a:solidFill>
            <a:srgbClr val="C6A04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2056" y="3419856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73252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Sem. 10–12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732520" y="4343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8595360" y="4736592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de leads e conversão. Decisão de seguir como fundador.</a:t>
            </a:r>
            <a:endParaRPr lang="en-US" sz="1200" dirty="0"/>
          </a:p>
        </p:txBody>
      </p:sp>
      <p:pic>
        <p:nvPicPr>
          <p:cNvPr id="25" name="Image 4" descr="logos/seal_sm.jp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7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2926080"/>
            <a:ext cx="7315200" cy="7315200"/>
          </a:xfrm>
          <a:prstGeom prst="ellipse">
            <a:avLst/>
          </a:prstGeom>
          <a:solidFill>
            <a:srgbClr val="1C3D2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0" y="1554480"/>
            <a:ext cx="2377440" cy="237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9808" y="182880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Apenas 3 vagas.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imobiliária por região.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777240" y="374904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FD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vamos colocar concorrentes diretos no mesmo piloto. Quem entrar primeiro garante a vaga da sua região — e a condição de fundador.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5212080"/>
            <a:ext cx="7498080" cy="822960"/>
          </a:xfrm>
          <a:prstGeom prst="rect">
            <a:avLst/>
          </a:prstGeom>
          <a:solidFill>
            <a:srgbClr val="1C3D28"/>
          </a:solidFill>
          <a:ln w="12700">
            <a:solidFill>
              <a:srgbClr val="C6A04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1208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Sua região ainda está aberta. Por enquanto.</a:t>
            </a:r>
            <a:endParaRPr lang="en-US" sz="1600" dirty="0"/>
          </a:p>
        </p:txBody>
      </p:sp>
      <p:pic>
        <p:nvPicPr>
          <p:cNvPr id="9" name="Image 1" descr="logos/seal_sm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703" y="457200"/>
            <a:ext cx="548640" cy="548640"/>
          </a:xfrm>
          <a:prstGeom prst="ellipse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  ·  Programa Piloto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6A04E"/>
          </a:solidFill>
          <a:ln/>
        </p:spPr>
      </p:sp>
      <p:pic>
        <p:nvPicPr>
          <p:cNvPr id="3" name="Image 0" descr="logos/seal_s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1051560"/>
            <a:ext cx="777240" cy="777240"/>
          </a:xfrm>
          <a:prstGeom prst="ellipse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188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6A0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9808" y="1645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027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Vamos garantir a sua vaga?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conversa de 30 minutos para entender sua operação e configurar tudo. Sem compromisso, sem custo.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77240" y="3611880"/>
            <a:ext cx="360273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3611880"/>
            <a:ext cx="82296" cy="21945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9" name="Shape 6"/>
          <p:cNvSpPr/>
          <p:nvPr/>
        </p:nvSpPr>
        <p:spPr>
          <a:xfrm>
            <a:off x="1051560" y="388620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296" y="4059936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46634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Confirme interesse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1051560" y="505663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hoje e reservamos a vaga da sua região.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562856" y="3611880"/>
            <a:ext cx="360273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562856" y="3611880"/>
            <a:ext cx="82296" cy="21945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15" name="Shape 11"/>
          <p:cNvSpPr/>
          <p:nvPr/>
        </p:nvSpPr>
        <p:spPr>
          <a:xfrm>
            <a:off x="4837176" y="388620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912" y="405993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37176" y="46634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Agende o onboarding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837176" y="505663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 para alinhar marca, imóveis e WhatsApp.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348472" y="3611880"/>
            <a:ext cx="360273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48472" y="3611880"/>
            <a:ext cx="82296" cy="2194560"/>
          </a:xfrm>
          <a:prstGeom prst="rect">
            <a:avLst/>
          </a:prstGeom>
          <a:solidFill>
            <a:srgbClr val="C6A04E"/>
          </a:solidFill>
          <a:ln/>
        </p:spPr>
      </p:sp>
      <p:sp>
        <p:nvSpPr>
          <p:cNvPr id="21" name="Shape 16"/>
          <p:cNvSpPr/>
          <p:nvPr/>
        </p:nvSpPr>
        <p:spPr>
          <a:xfrm>
            <a:off x="8622792" y="3886200"/>
            <a:ext cx="658368" cy="658368"/>
          </a:xfrm>
          <a:prstGeom prst="ellipse">
            <a:avLst/>
          </a:prstGeom>
          <a:solidFill>
            <a:srgbClr val="10271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6528" y="4059936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22792" y="4663440"/>
            <a:ext cx="3099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Entre no ar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622792" y="5056632"/>
            <a:ext cx="30998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até 2 semanas sua imobiliária já está com IA.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Oliveira Imóveis</a:t>
            </a:r>
            <a:pPr indent="0" marL="0">
              <a:buNone/>
            </a:pPr>
            <a:r>
              <a:rPr lang="en-US" sz="1400" dirty="0">
                <a:solidFill>
                  <a:srgbClr val="6E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oliveiraimoveis.ia.br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Piloto — Imobiliária com IA</dc:title>
  <dc:subject>PptxGenJS Presentation</dc:subject>
  <dc:creator>Oliveira Imóveis</dc:creator>
  <cp:lastModifiedBy>Oliveira Imóveis</cp:lastModifiedBy>
  <cp:revision>1</cp:revision>
  <dcterms:created xsi:type="dcterms:W3CDTF">2026-06-21T14:41:07Z</dcterms:created>
  <dcterms:modified xsi:type="dcterms:W3CDTF">2026-06-21T14:41:07Z</dcterms:modified>
</cp:coreProperties>
</file>